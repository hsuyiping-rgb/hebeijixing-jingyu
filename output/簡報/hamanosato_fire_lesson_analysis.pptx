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三年級社會：消防與地域公共性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這堂課把消防從制度知識，推進到「誰來承擔地域安全」的公共性問題。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主題不是背誦消防署功能，而是理解消防署、消防團、家庭與地域的互相依存。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核心張力：消防團很重要，但我的父母真的要加入嗎？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學生在情感、危險感、資料證據與公共責任之間來回思考。</a:t>
            </a:r>
          </a:p>
        </p:txBody>
      </p:sp>
      <p:pic>
        <p:nvPicPr>
          <p:cNvPr id="12" name="Picture 11" descr="contact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影片時間：00:00-55:46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課前脈絡：教師把單元重新定位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消防單元被放進公共性與地域參與，而不是只放在機關介紹。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教師指出茅崎市具有高火災延燒風險，消防署不是唯一防線。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訪談消防團員，讓教材帶有真實人物、地域歷史與生活脈絡。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課題設計從「地域を守る」推進到「我與家人如何被捲入地域守護」。</a:t>
            </a:r>
          </a:p>
        </p:txBody>
      </p:sp>
      <p:pic>
        <p:nvPicPr>
          <p:cNvPr id="12" name="Picture 11" descr="00-21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影片時間：03:20-21:20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本時課題：重要但不想承擔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孩子遭遇的不是知識不足，而是公共責任與家庭情感的衝突。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多數孩子知道消防團重要，卻不希望父母加入。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理由包含危險、忙碌、照顧家庭、父母角色不同。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這份抗拒不是錯誤答案，而是學生真實生活經驗進入社會課。</a:t>
            </a:r>
          </a:p>
        </p:txBody>
      </p:sp>
      <p:pic>
        <p:nvPicPr>
          <p:cNvPr id="12" name="Picture 11" descr="00-23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影片時間：22:20-24:30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學習事實 1：回到資料找根據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學生不是憑印象說，而是被引導回看消防團人數、位置與訪談資料。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教師追問哪一個分團、幾個人、離火災地點近不近。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學生重新連結前面學過的消防團資料。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社會課的資料在此成為討論公共責任的依據。</a:t>
            </a:r>
          </a:p>
        </p:txBody>
      </p:sp>
      <p:pic>
        <p:nvPicPr>
          <p:cNvPr id="12" name="Picture 11" descr="00-27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影片時間：27:00-30:00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學習事實 2：家長問卷帶來落差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孩子發現大人也覺得消防團必要，但被邀請時未必會加入。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問卷呈現「知道不多」「必要感高」「入團意願低」的分布。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孩子開始讀圖表，不只是聽老師講道理。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期待大人自然承擔的想法被資料動搖。</a:t>
            </a:r>
          </a:p>
        </p:txBody>
      </p:sp>
      <p:pic>
        <p:nvPicPr>
          <p:cNvPr id="12" name="Picture 11" descr="00-36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影片時間：36:00-39:00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學習事實 3：讀家長理由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家長的拒絕不是自私，而是時間、工作、照顧與壓力的現實。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學生讀到「一有事就要出動」「有壓力」「工作與家庭忙」等理由。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公共責任變成具體生活負擔，而非抽象口號。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孩子需要同時理解消防團需要與家人限制。</a:t>
            </a:r>
          </a:p>
        </p:txBody>
      </p:sp>
      <p:pic>
        <p:nvPicPr>
          <p:cNvPr id="12" name="Picture 11" descr="00-39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影片時間：39:00-42:00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跳躍課題：所有人都加入，如何？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教師用極端命題讓學生重新檢視自己的立場。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如果消防團缺員，是否所有人都應被要求加入？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這不是要學生答應，而是迫使他們處理公共需求與個人限制。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高品質課題讓孩子留在矛盾中，不急著收束成標準答案。</a:t>
            </a:r>
          </a:p>
        </p:txBody>
      </p:sp>
      <p:pic>
        <p:nvPicPr>
          <p:cNvPr id="12" name="Picture 11" descr="00-43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影片時間：42:00-46:00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關鍵矛盾：沒人加入會怎樣？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缺員與再成立的故事，把「不想加入」推回地域安全的現實。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教師提出某消防團曾人數歸零、後來由長者重新成立的案例。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學生面對：不想讓家人加入，但無人加入又會使地域失去防線。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這一刻的猶豫，是公共性學習正在發生的證據。</a:t>
            </a:r>
          </a:p>
        </p:txBody>
      </p:sp>
      <p:pic>
        <p:nvPicPr>
          <p:cNvPr id="12" name="Picture 11" descr="00-46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影片時間：46:00-49:00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學生的曖昧不是失敗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學生尚未說清楚答案，反而顯示問題真的進入了他們的生活世界。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孩子能感到消防知識與訓練必要，也能感到全員強制不合理。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他們正在從「我家不要」移動到「那地域怎麼辦」。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觀課時要看這種語言的搖擺，而不只看最後結論。</a:t>
            </a:r>
          </a:p>
        </p:txBody>
      </p:sp>
      <p:pic>
        <p:nvPicPr>
          <p:cNvPr id="12" name="Picture 11" descr="00-51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影片時間：49:00-52:10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學習共同體詮釋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本課的價值在於讓學生彼此聽見矛盾，而非被教師快速說服。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教材：教科書、消防團員、家長問卷、地域風險共同構成。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關係：學生把父母、消防團員、地域居民放進同一問題。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時間：課堂保留思考的來回，讓公共責任慢慢成形。</a:t>
            </a:r>
          </a:p>
        </p:txBody>
      </p:sp>
      <p:pic>
        <p:nvPicPr>
          <p:cNvPr id="12" name="Picture 11" descr="contact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影片時間：全課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觀課者的反思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公共性教育可以從孩子最真實的家庭感受開始。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我學到：孩子的抗拒不是要被修正，而是可被傾聽與深化的材料。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我學到：高品質的社會課會讓學生遭遇「重要但困難」的現實。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我學到：猶豫、停頓、改口，常常比流利正答更接近學習。</a:t>
            </a:r>
          </a:p>
        </p:txBody>
      </p:sp>
      <p:pic>
        <p:nvPicPr>
          <p:cNvPr id="12" name="Picture 11" descr="00-39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影片時間：反思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94360"/>
          </a:xfrm>
          <a:prstGeom prst="rect">
            <a:avLst/>
          </a:prstGeom>
          <a:solidFill>
            <a:srgbClr val="23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2EADC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412D"/>
                </a:solidFill>
                <a:latin typeface="Microsoft JhengHei"/>
              </a:defRPr>
            </a:pPr>
            <a:r>
              <a:t>後續可追問的觀課焦點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C2320"/>
                </a:solidFill>
                <a:latin typeface="Microsoft JhengHei"/>
              </a:defRPr>
            </a:pPr>
            <a:r>
              <a:t>下一輪分析可更細看同儕聽取如何改變學生語言。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哪些發言讓同伴重新看資料，而不是只表態？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學生如何把「入不入團」改寫成其他地域參與方式？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51376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68F39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51376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1C2320"/>
                </a:solidFill>
                <a:latin typeface="Microsoft JhengHei"/>
              </a:defRPr>
            </a:pPr>
            <a:r>
              <a:t>後續「子ども消防団」活動如何承接本時留下的矛盾？</a:t>
            </a:r>
          </a:p>
        </p:txBody>
      </p:sp>
      <p:pic>
        <p:nvPicPr>
          <p:cNvPr id="12" name="Picture 11" descr="00-21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07008"/>
            <a:ext cx="5212080" cy="3886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5321808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412D"/>
                </a:solidFill>
                <a:latin typeface="Microsoft JhengHei"/>
              </a:defRPr>
            </a:pPr>
            <a:r>
              <a:t>影片時間：延伸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