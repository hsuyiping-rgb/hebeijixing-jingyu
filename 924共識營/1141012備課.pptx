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76" r:id="rId5"/>
    <p:sldId id="267" r:id="rId6"/>
    <p:sldId id="268" r:id="rId7"/>
    <p:sldId id="269" r:id="rId8"/>
    <p:sldId id="270" r:id="rId9"/>
    <p:sldId id="271" r:id="rId10"/>
    <p:sldId id="272" r:id="rId11"/>
    <p:sldId id="274" r:id="rId12"/>
    <p:sldId id="275" r:id="rId13"/>
    <p:sldId id="273" r:id="rId14"/>
    <p:sldId id="257" r:id="rId15"/>
    <p:sldId id="277" r:id="rId16"/>
    <p:sldId id="260" r:id="rId17"/>
    <p:sldId id="261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CA1442-92C2-A687-C64C-3EB54233E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E793B08-A39A-504E-9198-E34367492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7F4307-0BD7-9F33-3609-57FB7643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F3D1C5-06DD-33F7-5BEE-1B4B3298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B5A745-4EE0-4A42-1DBA-98779A40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88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12E910-3609-C682-7B07-83535C2B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5D2C05-8DBA-8CF1-87A8-DF2E10015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91E733-F7F0-C59F-2FBC-8F44B9379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89EA21-04B8-9846-542A-FC1F5505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EF8AF7-A8F2-9706-FC81-50B8B6B2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797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46C80B-C195-2281-0BE2-C5F07C268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1979D6-B4EF-9182-A4C5-7A11F9B5C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EB6DBD-B94E-3C51-3959-EC1BE3F3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E5B698-6AEA-422F-FFD6-EF900444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46218B-1AE7-A876-FF13-80FE91A4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829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42D5AF-A825-AF95-B5C5-6A4037AE8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9EB79D-432A-0F8A-8FB6-B9A57ADC0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A06807F-4464-34F3-D099-54C9BE961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7E52C39-68DA-C30A-448C-BDDF3B367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E8FB06-6914-2AC0-826D-B8A0C2E5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F43693-FB9D-71E0-2535-2BE7E2FB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345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CBB50A-03FA-F897-8953-16FD5E294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09E4C3-AC36-4389-4F2A-836562727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E86B83-F45F-A297-6AB3-7AC27A403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85974F6-A453-7CEF-ED7C-A20595E6E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02961D9-DE1E-9A73-F7E3-65B34618D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9100ED1-527A-EC8D-CFE3-6D00058FB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9A155B8-3A8E-2349-60AD-03E5D9A3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09F5C29-EF83-FE11-128D-0444805D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225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AF2039-45E6-ACAE-8DC0-CE3770AE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42D95E2-B149-9682-823B-4016425D5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39C53F0-B175-44D7-6433-D586AD8BB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6F6E39-3201-08EC-9EDD-6A72F667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759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7F817CC-9BA0-6D7C-105F-256E0371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6932B4-6A87-3652-842C-5AD5147C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37AA6F-736D-4738-0729-339A4158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082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812D7-D4CF-F6F2-1997-A53FED4B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7415D-770D-C449-73C1-C13D70B53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73EE60-E7F3-140E-C2B3-D0E5FF1C4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82B37C-A8CB-BC34-18C6-22CE0128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8B98B6B-B6D0-2EDF-2299-3593ECA1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3498CC-CA98-B29D-9C49-430A222F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012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52ABF-DB2C-FD66-7395-44747CDE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7752413-7AD4-CBC3-A0D0-73D4D7FA8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B6FAEE6-824A-0367-AA95-778D9BA28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7045B9-A203-E5A4-9315-65EEE52B2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344C2E0-D699-5D2A-418F-43C81E5E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2BB2491-404B-E4C6-1EBF-E557D586B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564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E9643C-435E-CC7F-26A4-D8789D811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58AA7D-7897-2F5D-0E94-BB2DCFA6A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3916AF-FFF5-7E61-CE05-6ED87F288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2EBBF1-6815-5C2B-4CE8-D23BFA5A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A5BB9B-7B0C-AAF3-D068-EB9FCAD7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905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28D90FC-BED1-FE87-0821-0088E53AD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8C101E0-396F-83C9-868A-5890FF2DA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702172-EAA4-D124-A945-E73C83EB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C6DEF7-0600-2335-4BA6-526C5AF02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E87D0A-57C9-3C95-1198-D5821A86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582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83A4604-FE6C-32EB-49EA-586CFC50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0B1E93-2C0A-CA77-2937-306CB66B7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60852A-831A-BD89-6FEA-1BFE8AB41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3A9F7-C759-48EC-BD5F-B5392ACB1644}" type="datetimeFigureOut">
              <a:rPr lang="zh-TW" altLang="en-US" smtClean="0"/>
              <a:t>2025/10/13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80CCEC-3F85-3278-17B5-5C07EE87D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E46CAA-37EE-6C03-848E-C60EEB11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41E22-7C05-4823-B5B8-2E85CE5CEF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94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89931F6-C1BC-14E4-FFCA-49F0043CF2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五年級數學公開課</a:t>
            </a: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CF9EB098-A0E9-4A12-EDBE-180FC41C13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授課者：楊景元</a:t>
            </a:r>
          </a:p>
        </p:txBody>
      </p:sp>
    </p:spTree>
    <p:extLst>
      <p:ext uri="{BB962C8B-B14F-4D97-AF65-F5344CB8AC3E}">
        <p14:creationId xmlns:p14="http://schemas.microsoft.com/office/powerpoint/2010/main" val="4269843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5172D-EFE2-73DB-905D-58132DC8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五年級數學公開課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FE0ADD-6332-14C3-5FDF-D04A3695C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8399"/>
          </a:xfrm>
        </p:spPr>
        <p:txBody>
          <a:bodyPr>
            <a:normAutofit/>
          </a:bodyPr>
          <a:lstStyle/>
          <a:p>
            <a:r>
              <a:rPr lang="zh-TW" altLang="en-US" dirty="0"/>
              <a:t>日期：</a:t>
            </a:r>
            <a:r>
              <a:rPr lang="en-US" altLang="zh-TW" dirty="0"/>
              <a:t>114</a:t>
            </a:r>
            <a:r>
              <a:rPr lang="zh-TW" altLang="en-US" dirty="0"/>
              <a:t>年</a:t>
            </a:r>
            <a:r>
              <a:rPr lang="en-US" altLang="zh-TW" dirty="0"/>
              <a:t>10</a:t>
            </a:r>
            <a:r>
              <a:rPr lang="zh-TW" altLang="en-US" dirty="0"/>
              <a:t>月</a:t>
            </a:r>
            <a:r>
              <a:rPr lang="en-US" altLang="zh-TW" dirty="0"/>
              <a:t>17</a:t>
            </a:r>
            <a:r>
              <a:rPr lang="zh-TW" altLang="en-US" dirty="0"/>
              <a:t>日</a:t>
            </a:r>
            <a:endParaRPr lang="en-US" altLang="zh-TW" dirty="0"/>
          </a:p>
          <a:p>
            <a:r>
              <a:rPr lang="zh-TW" altLang="en-US" dirty="0"/>
              <a:t>節次：第</a:t>
            </a:r>
            <a:r>
              <a:rPr lang="en-US" altLang="zh-TW" dirty="0"/>
              <a:t>2</a:t>
            </a:r>
            <a:r>
              <a:rPr lang="zh-TW" altLang="en-US" dirty="0"/>
              <a:t>節</a:t>
            </a:r>
            <a:r>
              <a:rPr lang="en-US" altLang="zh-TW" dirty="0"/>
              <a:t>(0930-1010)</a:t>
            </a:r>
          </a:p>
          <a:p>
            <a:r>
              <a:rPr lang="zh-TW" altLang="en-US" dirty="0"/>
              <a:t>班級：五年</a:t>
            </a:r>
            <a:r>
              <a:rPr lang="en-US" altLang="zh-TW" dirty="0"/>
              <a:t>9</a:t>
            </a:r>
            <a:r>
              <a:rPr lang="zh-TW" altLang="en-US" dirty="0"/>
              <a:t>班</a:t>
            </a:r>
            <a:endParaRPr lang="en-US" altLang="zh-TW" dirty="0"/>
          </a:p>
          <a:p>
            <a:r>
              <a:rPr lang="zh-TW" altLang="en-US" dirty="0"/>
              <a:t>領域：數學</a:t>
            </a:r>
            <a:endParaRPr lang="en-US" altLang="zh-TW" dirty="0"/>
          </a:p>
          <a:p>
            <a:r>
              <a:rPr lang="zh-TW" altLang="en-US" dirty="0"/>
              <a:t>教材：</a:t>
            </a:r>
            <a:r>
              <a:rPr lang="zh-TW" altLang="zh-TW" dirty="0"/>
              <a:t>翰林版數學、</a:t>
            </a:r>
            <a:r>
              <a:rPr lang="en-US" altLang="zh-TW" dirty="0"/>
              <a:t>112</a:t>
            </a:r>
            <a:r>
              <a:rPr lang="zh-TW" altLang="zh-TW" dirty="0"/>
              <a:t>年度及</a:t>
            </a:r>
            <a:r>
              <a:rPr lang="en-US" altLang="zh-TW" dirty="0"/>
              <a:t>114</a:t>
            </a:r>
            <a:r>
              <a:rPr lang="zh-TW" altLang="zh-TW" dirty="0"/>
              <a:t>年度五年級數學能力檢測題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30493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CB7313-9DAD-AC5F-43F2-0AD7B19A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設計理念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EAA02B-AC07-FA13-09FA-1896A2618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57855"/>
          </a:xfrm>
        </p:spPr>
        <p:txBody>
          <a:bodyPr/>
          <a:lstStyle/>
          <a:p>
            <a:pPr algn="just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參考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年度五年級數學能力檢測結果，第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24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題全市通過率為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25%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，本校通過率為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23%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分析題目內涵為</a:t>
            </a:r>
            <a:r>
              <a:rPr lang="zh-TW" altLang="zh-TW" dirty="0"/>
              <a:t>「離散量情境中的分數表徵」、「使用單位分數量詞描述」之概念延伸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，並未涉及複雜的計算或抽象概念。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為理解學生學習難點及瞭解提升學生理解狀態，設計先由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四年級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習作題鞏固確認其分數基本概念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共有課題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，再以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112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年度、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年度數學能力檢測題做為挑戰題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(Jump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7693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EC07B-C567-A8FB-8C8F-385B983BD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0D35680E-2C2B-AC33-295C-86E8BFF70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07" y="92232"/>
            <a:ext cx="11439950" cy="65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1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5EB65-E0C7-93E7-EF6A-3426116B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自我</a:t>
            </a:r>
            <a:r>
              <a:rPr lang="zh-TW" altLang="zh-TW" dirty="0"/>
              <a:t>準備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95A6BF-00A4-587D-7E78-B154EEE4D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8416" cy="4351338"/>
          </a:xfrm>
        </p:spPr>
        <p:txBody>
          <a:bodyPr/>
          <a:lstStyle/>
          <a:p>
            <a:r>
              <a:rPr lang="zh-TW" altLang="zh-TW" b="1" dirty="0"/>
              <a:t>以「學生的思考」來預想學生學習時會遭遇到的困境</a:t>
            </a:r>
            <a:endParaRPr lang="zh-TW" altLang="zh-TW" dirty="0"/>
          </a:p>
          <a:p>
            <a:r>
              <a:rPr lang="zh-TW" altLang="zh-TW" b="1" dirty="0"/>
              <a:t>教學的成功與否要能誠實面對每一個兒童、誠實面對教材</a:t>
            </a:r>
            <a:endParaRPr lang="en-US" altLang="zh-TW" b="1" dirty="0"/>
          </a:p>
          <a:p>
            <a:pPr marL="0" indent="0" algn="r">
              <a:buNone/>
            </a:pPr>
            <a:r>
              <a:rPr lang="en-US" altLang="zh-TW" b="1" dirty="0"/>
              <a:t>~</a:t>
            </a:r>
            <a:r>
              <a:rPr lang="zh-TW" altLang="zh-TW" b="1" dirty="0"/>
              <a:t>佐藤學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1441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F24AE3-71A1-3D21-9866-032CC5D1C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自我準備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0C30F1-714C-0CBA-C4AF-8A4F22F1D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分析五年級學生過去學習分數的歷程，透過閱讀課本、習作、教師手冊，瞭解學生已學習過的概念。</a:t>
            </a:r>
          </a:p>
          <a:p>
            <a:r>
              <a:rPr lang="zh-TW" altLang="zh-TW" dirty="0"/>
              <a:t>分析挑戰題題目包含之分數數學概念，追溯其基本概念會在哪個年級學習，找出相關的練習題，並模擬學生習寫時可能會遇到的困難。</a:t>
            </a:r>
          </a:p>
          <a:p>
            <a:r>
              <a:rPr lang="zh-TW" altLang="zh-TW" dirty="0"/>
              <a:t>篩選適當的基本概念練習題</a:t>
            </a:r>
            <a:r>
              <a:rPr lang="en-US" altLang="zh-TW" dirty="0"/>
              <a:t>(</a:t>
            </a:r>
            <a:r>
              <a:rPr lang="zh-TW" altLang="zh-TW" dirty="0"/>
              <a:t>共有課題</a:t>
            </a:r>
            <a:r>
              <a:rPr lang="en-US" altLang="zh-TW" dirty="0"/>
              <a:t>)</a:t>
            </a:r>
            <a:r>
              <a:rPr lang="zh-TW" altLang="zh-TW" dirty="0"/>
              <a:t>，讓小組以協同學習的方式進行互幫互學的自主學習。鞏固基本知能後再習寫挑戰題。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266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A7605-4753-ECF0-0EFE-CB71D454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學習策略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C59BA0-0827-302E-F5D1-1334CBB6B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一、解題（理解）策略：轉譯、表徵</a:t>
            </a:r>
          </a:p>
          <a:p>
            <a:r>
              <a:rPr lang="zh-TW" altLang="zh-TW" dirty="0"/>
              <a:t>二、協同學習策略</a:t>
            </a:r>
            <a:r>
              <a:rPr lang="en-US" altLang="zh-TW" dirty="0"/>
              <a:t>~</a:t>
            </a:r>
            <a:r>
              <a:rPr lang="zh-TW" altLang="zh-TW" b="1" dirty="0"/>
              <a:t>讓每個孩子都進到學習的狀態</a:t>
            </a:r>
          </a:p>
          <a:p>
            <a:r>
              <a:rPr lang="zh-TW" altLang="zh-TW" dirty="0"/>
              <a:t>「專注聆聽」「協同學習」、「互幫互學」</a:t>
            </a:r>
            <a:r>
              <a:rPr lang="zh-TW" altLang="en-US" dirty="0"/>
              <a:t>、「</a:t>
            </a:r>
            <a:r>
              <a:rPr lang="en-US" altLang="zh-TW" dirty="0"/>
              <a:t>Help Seeking</a:t>
            </a:r>
            <a:r>
              <a:rPr lang="zh-TW" altLang="en-US" dirty="0"/>
              <a:t>」</a:t>
            </a:r>
            <a:endParaRPr lang="en-US" altLang="zh-TW" dirty="0"/>
          </a:p>
          <a:p>
            <a:r>
              <a:rPr lang="zh-TW" altLang="en-US" dirty="0"/>
              <a:t>我的想法跟您一樣，我可以補充</a:t>
            </a:r>
            <a:r>
              <a:rPr lang="en-US" altLang="zh-TW" dirty="0"/>
              <a:t>…</a:t>
            </a:r>
          </a:p>
          <a:p>
            <a:r>
              <a:rPr lang="zh-TW" altLang="en-US" dirty="0"/>
              <a:t>我的想法跟您不一樣，我認為</a:t>
            </a:r>
            <a:r>
              <a:rPr lang="en-US" altLang="zh-TW" dirty="0"/>
              <a:t>…</a:t>
            </a:r>
          </a:p>
          <a:p>
            <a:r>
              <a:rPr lang="zh-TW" altLang="en-US" dirty="0"/>
              <a:t>我不會請教我</a:t>
            </a:r>
            <a:r>
              <a:rPr lang="en-US" altLang="zh-TW" dirty="0"/>
              <a:t>…</a:t>
            </a:r>
          </a:p>
          <a:p>
            <a:r>
              <a:rPr lang="zh-TW" altLang="en-US" dirty="0"/>
              <a:t>編碼教學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1141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C2DCF-4790-7DB3-758F-1E0FA383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8F7776-51B1-4784-7E7E-570166CF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297393" cy="348147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策略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5E64BBC5-5B73-3D7C-FABB-EC75115DDF0F}"/>
              </a:ext>
            </a:extLst>
          </p:cNvPr>
          <p:cNvGrpSpPr/>
          <p:nvPr/>
        </p:nvGrpSpPr>
        <p:grpSpPr>
          <a:xfrm>
            <a:off x="2135593" y="847130"/>
            <a:ext cx="2117725" cy="1818639"/>
            <a:chOff x="457204" y="457203"/>
            <a:chExt cx="2117725" cy="1818639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9984333E-1DE4-17CA-3BF4-6C7BE53B7D2D}"/>
                </a:ext>
              </a:extLst>
            </p:cNvPr>
            <p:cNvSpPr/>
            <p:nvPr/>
          </p:nvSpPr>
          <p:spPr>
            <a:xfrm>
              <a:off x="457204" y="457203"/>
              <a:ext cx="2117725" cy="1818639"/>
            </a:xfrm>
            <a:custGeom>
              <a:avLst/>
              <a:gdLst/>
              <a:ahLst/>
              <a:cxnLst/>
              <a:rect l="l" t="t" r="r" b="b"/>
              <a:pathLst>
                <a:path w="2117725" h="1818639">
                  <a:moveTo>
                    <a:pt x="2111298" y="0"/>
                  </a:moveTo>
                  <a:lnTo>
                    <a:pt x="1062482" y="0"/>
                  </a:lnTo>
                  <a:lnTo>
                    <a:pt x="1062482" y="6096"/>
                  </a:lnTo>
                  <a:lnTo>
                    <a:pt x="1062482" y="907034"/>
                  </a:lnTo>
                  <a:lnTo>
                    <a:pt x="1062482" y="913130"/>
                  </a:lnTo>
                  <a:lnTo>
                    <a:pt x="1062482" y="1812290"/>
                  </a:lnTo>
                  <a:lnTo>
                    <a:pt x="1056386" y="1812290"/>
                  </a:lnTo>
                  <a:lnTo>
                    <a:pt x="1056386" y="913130"/>
                  </a:lnTo>
                  <a:lnTo>
                    <a:pt x="1056386" y="907034"/>
                  </a:lnTo>
                  <a:lnTo>
                    <a:pt x="1056386" y="6096"/>
                  </a:lnTo>
                  <a:lnTo>
                    <a:pt x="1062482" y="6096"/>
                  </a:lnTo>
                  <a:lnTo>
                    <a:pt x="1062482" y="0"/>
                  </a:lnTo>
                  <a:lnTo>
                    <a:pt x="1056386" y="0"/>
                  </a:lnTo>
                  <a:lnTo>
                    <a:pt x="1050340" y="0"/>
                  </a:lnTo>
                  <a:lnTo>
                    <a:pt x="1050290" y="6096"/>
                  </a:lnTo>
                  <a:lnTo>
                    <a:pt x="1050290" y="907034"/>
                  </a:lnTo>
                  <a:lnTo>
                    <a:pt x="6096" y="907034"/>
                  </a:lnTo>
                  <a:lnTo>
                    <a:pt x="6096" y="6096"/>
                  </a:lnTo>
                  <a:lnTo>
                    <a:pt x="1050290" y="6096"/>
                  </a:lnTo>
                  <a:lnTo>
                    <a:pt x="105029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45"/>
                  </a:lnTo>
                  <a:lnTo>
                    <a:pt x="0" y="1818386"/>
                  </a:lnTo>
                  <a:lnTo>
                    <a:pt x="6096" y="1818386"/>
                  </a:lnTo>
                  <a:lnTo>
                    <a:pt x="12179" y="1818386"/>
                  </a:lnTo>
                  <a:lnTo>
                    <a:pt x="12179" y="1812290"/>
                  </a:lnTo>
                  <a:lnTo>
                    <a:pt x="6096" y="1812290"/>
                  </a:lnTo>
                  <a:lnTo>
                    <a:pt x="6096" y="913130"/>
                  </a:lnTo>
                  <a:lnTo>
                    <a:pt x="1050290" y="913130"/>
                  </a:lnTo>
                  <a:lnTo>
                    <a:pt x="1050290" y="1812290"/>
                  </a:lnTo>
                  <a:lnTo>
                    <a:pt x="12192" y="1812290"/>
                  </a:lnTo>
                  <a:lnTo>
                    <a:pt x="12192" y="1818386"/>
                  </a:lnTo>
                  <a:lnTo>
                    <a:pt x="2111298" y="1818386"/>
                  </a:lnTo>
                  <a:lnTo>
                    <a:pt x="2111298" y="1812290"/>
                  </a:lnTo>
                  <a:lnTo>
                    <a:pt x="1074674" y="1812290"/>
                  </a:lnTo>
                  <a:lnTo>
                    <a:pt x="1068578" y="1812290"/>
                  </a:lnTo>
                  <a:lnTo>
                    <a:pt x="1068578" y="913130"/>
                  </a:lnTo>
                  <a:lnTo>
                    <a:pt x="2111298" y="913130"/>
                  </a:lnTo>
                  <a:lnTo>
                    <a:pt x="2111298" y="907034"/>
                  </a:lnTo>
                  <a:lnTo>
                    <a:pt x="1068578" y="907034"/>
                  </a:lnTo>
                  <a:lnTo>
                    <a:pt x="1068578" y="6096"/>
                  </a:lnTo>
                  <a:lnTo>
                    <a:pt x="2111298" y="6096"/>
                  </a:lnTo>
                  <a:lnTo>
                    <a:pt x="2111298" y="0"/>
                  </a:lnTo>
                  <a:close/>
                </a:path>
                <a:path w="2117725" h="1818639">
                  <a:moveTo>
                    <a:pt x="2117471" y="0"/>
                  </a:moveTo>
                  <a:lnTo>
                    <a:pt x="2111375" y="0"/>
                  </a:lnTo>
                  <a:lnTo>
                    <a:pt x="2111375" y="6045"/>
                  </a:lnTo>
                  <a:lnTo>
                    <a:pt x="2111375" y="907034"/>
                  </a:lnTo>
                  <a:lnTo>
                    <a:pt x="2111375" y="913130"/>
                  </a:lnTo>
                  <a:lnTo>
                    <a:pt x="2111375" y="1812290"/>
                  </a:lnTo>
                  <a:lnTo>
                    <a:pt x="2111375" y="1818386"/>
                  </a:lnTo>
                  <a:lnTo>
                    <a:pt x="2117471" y="1818386"/>
                  </a:lnTo>
                  <a:lnTo>
                    <a:pt x="2117471" y="6045"/>
                  </a:lnTo>
                  <a:lnTo>
                    <a:pt x="21174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E5375611-4510-EDC3-7FC7-F2616A6DD315}"/>
                </a:ext>
              </a:extLst>
            </p:cNvPr>
            <p:cNvGrpSpPr/>
            <p:nvPr/>
          </p:nvGrpSpPr>
          <p:grpSpPr>
            <a:xfrm>
              <a:off x="897104" y="567944"/>
              <a:ext cx="1222921" cy="1664436"/>
              <a:chOff x="921609" y="529903"/>
              <a:chExt cx="1222921" cy="1664436"/>
            </a:xfrm>
          </p:grpSpPr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9AE579F-31FF-0AD8-424F-7556D9876DAB}"/>
                  </a:ext>
                </a:extLst>
              </p:cNvPr>
              <p:cNvSpPr txBox="1"/>
              <p:nvPr/>
            </p:nvSpPr>
            <p:spPr>
              <a:xfrm>
                <a:off x="921609" y="529903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A</a:t>
                </a:r>
                <a:endParaRPr lang="zh-TW" altLang="en-US" sz="4800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DEE85DC-B532-EAF8-E452-F22430FD081E}"/>
                  </a:ext>
                </a:extLst>
              </p:cNvPr>
              <p:cNvSpPr txBox="1"/>
              <p:nvPr/>
            </p:nvSpPr>
            <p:spPr>
              <a:xfrm>
                <a:off x="1515832" y="537760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D</a:t>
                </a:r>
                <a:endParaRPr lang="zh-TW" altLang="en-US" sz="4800" dirty="0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AA4A7665-B7DB-04A8-10EE-305A643A014D}"/>
                  </a:ext>
                </a:extLst>
              </p:cNvPr>
              <p:cNvSpPr txBox="1"/>
              <p:nvPr/>
            </p:nvSpPr>
            <p:spPr>
              <a:xfrm>
                <a:off x="949352" y="1360900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B</a:t>
                </a:r>
                <a:endParaRPr lang="zh-TW" altLang="en-US" sz="4800" dirty="0"/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8257BC0-D503-F0A0-96DE-0066EBB507D6}"/>
                  </a:ext>
                </a:extLst>
              </p:cNvPr>
              <p:cNvSpPr txBox="1"/>
              <p:nvPr/>
            </p:nvSpPr>
            <p:spPr>
              <a:xfrm>
                <a:off x="1510647" y="1363342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C</a:t>
                </a:r>
                <a:endParaRPr lang="zh-TW" altLang="en-US" sz="4800" dirty="0"/>
              </a:p>
            </p:txBody>
          </p:sp>
        </p:grp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8AE080F-D8C0-19D7-B677-CFA7CA3FCF97}"/>
              </a:ext>
            </a:extLst>
          </p:cNvPr>
          <p:cNvGrpSpPr/>
          <p:nvPr/>
        </p:nvGrpSpPr>
        <p:grpSpPr>
          <a:xfrm>
            <a:off x="2135593" y="2880242"/>
            <a:ext cx="2117725" cy="1818639"/>
            <a:chOff x="457204" y="457203"/>
            <a:chExt cx="2117725" cy="1818639"/>
          </a:xfrm>
        </p:grpSpPr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76BC3037-55A1-6074-0A87-AF7A89C0B16C}"/>
                </a:ext>
              </a:extLst>
            </p:cNvPr>
            <p:cNvSpPr/>
            <p:nvPr/>
          </p:nvSpPr>
          <p:spPr>
            <a:xfrm>
              <a:off x="457204" y="457203"/>
              <a:ext cx="2117725" cy="1818639"/>
            </a:xfrm>
            <a:custGeom>
              <a:avLst/>
              <a:gdLst/>
              <a:ahLst/>
              <a:cxnLst/>
              <a:rect l="l" t="t" r="r" b="b"/>
              <a:pathLst>
                <a:path w="2117725" h="1818639">
                  <a:moveTo>
                    <a:pt x="2111298" y="0"/>
                  </a:moveTo>
                  <a:lnTo>
                    <a:pt x="1062482" y="0"/>
                  </a:lnTo>
                  <a:lnTo>
                    <a:pt x="1062482" y="6096"/>
                  </a:lnTo>
                  <a:lnTo>
                    <a:pt x="1062482" y="907034"/>
                  </a:lnTo>
                  <a:lnTo>
                    <a:pt x="1062482" y="913130"/>
                  </a:lnTo>
                  <a:lnTo>
                    <a:pt x="1062482" y="1812290"/>
                  </a:lnTo>
                  <a:lnTo>
                    <a:pt x="1056386" y="1812290"/>
                  </a:lnTo>
                  <a:lnTo>
                    <a:pt x="1056386" y="913130"/>
                  </a:lnTo>
                  <a:lnTo>
                    <a:pt x="1056386" y="907034"/>
                  </a:lnTo>
                  <a:lnTo>
                    <a:pt x="1056386" y="6096"/>
                  </a:lnTo>
                  <a:lnTo>
                    <a:pt x="1062482" y="6096"/>
                  </a:lnTo>
                  <a:lnTo>
                    <a:pt x="1062482" y="0"/>
                  </a:lnTo>
                  <a:lnTo>
                    <a:pt x="1056386" y="0"/>
                  </a:lnTo>
                  <a:lnTo>
                    <a:pt x="1050340" y="0"/>
                  </a:lnTo>
                  <a:lnTo>
                    <a:pt x="1050290" y="6096"/>
                  </a:lnTo>
                  <a:lnTo>
                    <a:pt x="1050290" y="907034"/>
                  </a:lnTo>
                  <a:lnTo>
                    <a:pt x="6096" y="907034"/>
                  </a:lnTo>
                  <a:lnTo>
                    <a:pt x="6096" y="6096"/>
                  </a:lnTo>
                  <a:lnTo>
                    <a:pt x="1050290" y="6096"/>
                  </a:lnTo>
                  <a:lnTo>
                    <a:pt x="105029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45"/>
                  </a:lnTo>
                  <a:lnTo>
                    <a:pt x="0" y="1818386"/>
                  </a:lnTo>
                  <a:lnTo>
                    <a:pt x="6096" y="1818386"/>
                  </a:lnTo>
                  <a:lnTo>
                    <a:pt x="12179" y="1818386"/>
                  </a:lnTo>
                  <a:lnTo>
                    <a:pt x="12179" y="1812290"/>
                  </a:lnTo>
                  <a:lnTo>
                    <a:pt x="6096" y="1812290"/>
                  </a:lnTo>
                  <a:lnTo>
                    <a:pt x="6096" y="913130"/>
                  </a:lnTo>
                  <a:lnTo>
                    <a:pt x="1050290" y="913130"/>
                  </a:lnTo>
                  <a:lnTo>
                    <a:pt x="1050290" y="1812290"/>
                  </a:lnTo>
                  <a:lnTo>
                    <a:pt x="12192" y="1812290"/>
                  </a:lnTo>
                  <a:lnTo>
                    <a:pt x="12192" y="1818386"/>
                  </a:lnTo>
                  <a:lnTo>
                    <a:pt x="2111298" y="1818386"/>
                  </a:lnTo>
                  <a:lnTo>
                    <a:pt x="2111298" y="1812290"/>
                  </a:lnTo>
                  <a:lnTo>
                    <a:pt x="1074674" y="1812290"/>
                  </a:lnTo>
                  <a:lnTo>
                    <a:pt x="1068578" y="1812290"/>
                  </a:lnTo>
                  <a:lnTo>
                    <a:pt x="1068578" y="913130"/>
                  </a:lnTo>
                  <a:lnTo>
                    <a:pt x="2111298" y="913130"/>
                  </a:lnTo>
                  <a:lnTo>
                    <a:pt x="2111298" y="907034"/>
                  </a:lnTo>
                  <a:lnTo>
                    <a:pt x="1068578" y="907034"/>
                  </a:lnTo>
                  <a:lnTo>
                    <a:pt x="1068578" y="6096"/>
                  </a:lnTo>
                  <a:lnTo>
                    <a:pt x="2111298" y="6096"/>
                  </a:lnTo>
                  <a:lnTo>
                    <a:pt x="2111298" y="0"/>
                  </a:lnTo>
                  <a:close/>
                </a:path>
                <a:path w="2117725" h="1818639">
                  <a:moveTo>
                    <a:pt x="2117471" y="0"/>
                  </a:moveTo>
                  <a:lnTo>
                    <a:pt x="2111375" y="0"/>
                  </a:lnTo>
                  <a:lnTo>
                    <a:pt x="2111375" y="6045"/>
                  </a:lnTo>
                  <a:lnTo>
                    <a:pt x="2111375" y="907034"/>
                  </a:lnTo>
                  <a:lnTo>
                    <a:pt x="2111375" y="913130"/>
                  </a:lnTo>
                  <a:lnTo>
                    <a:pt x="2111375" y="1812290"/>
                  </a:lnTo>
                  <a:lnTo>
                    <a:pt x="2111375" y="1818386"/>
                  </a:lnTo>
                  <a:lnTo>
                    <a:pt x="2117471" y="1818386"/>
                  </a:lnTo>
                  <a:lnTo>
                    <a:pt x="2117471" y="6045"/>
                  </a:lnTo>
                  <a:lnTo>
                    <a:pt x="21174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5DEFBC88-78D0-33FF-36E3-05BF77361EBC}"/>
                </a:ext>
              </a:extLst>
            </p:cNvPr>
            <p:cNvGrpSpPr/>
            <p:nvPr/>
          </p:nvGrpSpPr>
          <p:grpSpPr>
            <a:xfrm>
              <a:off x="897104" y="567944"/>
              <a:ext cx="1222921" cy="1664436"/>
              <a:chOff x="921609" y="529903"/>
              <a:chExt cx="1222921" cy="1664436"/>
            </a:xfrm>
          </p:grpSpPr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470FC31-0BD3-2389-629E-453E143D2FDE}"/>
                  </a:ext>
                </a:extLst>
              </p:cNvPr>
              <p:cNvSpPr txBox="1"/>
              <p:nvPr/>
            </p:nvSpPr>
            <p:spPr>
              <a:xfrm>
                <a:off x="921609" y="529903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A</a:t>
                </a:r>
                <a:endParaRPr lang="zh-TW" altLang="en-US" sz="4800" dirty="0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4177862-4425-86E2-6E08-C6FE299A635D}"/>
                  </a:ext>
                </a:extLst>
              </p:cNvPr>
              <p:cNvSpPr txBox="1"/>
              <p:nvPr/>
            </p:nvSpPr>
            <p:spPr>
              <a:xfrm>
                <a:off x="1515832" y="537760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D</a:t>
                </a:r>
                <a:endParaRPr lang="zh-TW" altLang="en-US" sz="4800" dirty="0"/>
              </a:p>
            </p:txBody>
          </p:sp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1389524D-AB59-F381-EB7D-29E25E6111D5}"/>
                  </a:ext>
                </a:extLst>
              </p:cNvPr>
              <p:cNvSpPr txBox="1"/>
              <p:nvPr/>
            </p:nvSpPr>
            <p:spPr>
              <a:xfrm>
                <a:off x="949352" y="1360900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B</a:t>
                </a:r>
                <a:endParaRPr lang="zh-TW" altLang="en-US" sz="4800" dirty="0"/>
              </a:p>
            </p:txBody>
          </p:sp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CCB67C3-101D-2064-D39E-E8BA78325FBC}"/>
                  </a:ext>
                </a:extLst>
              </p:cNvPr>
              <p:cNvSpPr txBox="1"/>
              <p:nvPr/>
            </p:nvSpPr>
            <p:spPr>
              <a:xfrm>
                <a:off x="1510647" y="1363342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C</a:t>
                </a:r>
                <a:endParaRPr lang="zh-TW" altLang="en-US" sz="4800" dirty="0"/>
              </a:p>
            </p:txBody>
          </p:sp>
        </p:grp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DE3BBAF0-89D0-4C98-68B3-480AA8422846}"/>
              </a:ext>
            </a:extLst>
          </p:cNvPr>
          <p:cNvGrpSpPr/>
          <p:nvPr/>
        </p:nvGrpSpPr>
        <p:grpSpPr>
          <a:xfrm>
            <a:off x="6192536" y="4865156"/>
            <a:ext cx="2117725" cy="1818639"/>
            <a:chOff x="457204" y="457203"/>
            <a:chExt cx="2117725" cy="1818639"/>
          </a:xfrm>
        </p:grpSpPr>
        <p:sp>
          <p:nvSpPr>
            <p:cNvPr id="24" name="object 12">
              <a:extLst>
                <a:ext uri="{FF2B5EF4-FFF2-40B4-BE49-F238E27FC236}">
                  <a16:creationId xmlns:a16="http://schemas.microsoft.com/office/drawing/2014/main" id="{150A6351-6937-5214-1B23-C74B0076C0A9}"/>
                </a:ext>
              </a:extLst>
            </p:cNvPr>
            <p:cNvSpPr/>
            <p:nvPr/>
          </p:nvSpPr>
          <p:spPr>
            <a:xfrm>
              <a:off x="457204" y="457203"/>
              <a:ext cx="2117725" cy="1818639"/>
            </a:xfrm>
            <a:custGeom>
              <a:avLst/>
              <a:gdLst/>
              <a:ahLst/>
              <a:cxnLst/>
              <a:rect l="l" t="t" r="r" b="b"/>
              <a:pathLst>
                <a:path w="2117725" h="1818639">
                  <a:moveTo>
                    <a:pt x="2111298" y="0"/>
                  </a:moveTo>
                  <a:lnTo>
                    <a:pt x="1062482" y="0"/>
                  </a:lnTo>
                  <a:lnTo>
                    <a:pt x="1062482" y="6096"/>
                  </a:lnTo>
                  <a:lnTo>
                    <a:pt x="1062482" y="907034"/>
                  </a:lnTo>
                  <a:lnTo>
                    <a:pt x="1062482" y="913130"/>
                  </a:lnTo>
                  <a:lnTo>
                    <a:pt x="1062482" y="1812290"/>
                  </a:lnTo>
                  <a:lnTo>
                    <a:pt x="1056386" y="1812290"/>
                  </a:lnTo>
                  <a:lnTo>
                    <a:pt x="1056386" y="913130"/>
                  </a:lnTo>
                  <a:lnTo>
                    <a:pt x="1056386" y="907034"/>
                  </a:lnTo>
                  <a:lnTo>
                    <a:pt x="1056386" y="6096"/>
                  </a:lnTo>
                  <a:lnTo>
                    <a:pt x="1062482" y="6096"/>
                  </a:lnTo>
                  <a:lnTo>
                    <a:pt x="1062482" y="0"/>
                  </a:lnTo>
                  <a:lnTo>
                    <a:pt x="1056386" y="0"/>
                  </a:lnTo>
                  <a:lnTo>
                    <a:pt x="1050340" y="0"/>
                  </a:lnTo>
                  <a:lnTo>
                    <a:pt x="1050290" y="6096"/>
                  </a:lnTo>
                  <a:lnTo>
                    <a:pt x="1050290" y="907034"/>
                  </a:lnTo>
                  <a:lnTo>
                    <a:pt x="6096" y="907034"/>
                  </a:lnTo>
                  <a:lnTo>
                    <a:pt x="6096" y="6096"/>
                  </a:lnTo>
                  <a:lnTo>
                    <a:pt x="1050290" y="6096"/>
                  </a:lnTo>
                  <a:lnTo>
                    <a:pt x="105029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45"/>
                  </a:lnTo>
                  <a:lnTo>
                    <a:pt x="0" y="1818386"/>
                  </a:lnTo>
                  <a:lnTo>
                    <a:pt x="6096" y="1818386"/>
                  </a:lnTo>
                  <a:lnTo>
                    <a:pt x="12179" y="1818386"/>
                  </a:lnTo>
                  <a:lnTo>
                    <a:pt x="12179" y="1812290"/>
                  </a:lnTo>
                  <a:lnTo>
                    <a:pt x="6096" y="1812290"/>
                  </a:lnTo>
                  <a:lnTo>
                    <a:pt x="6096" y="913130"/>
                  </a:lnTo>
                  <a:lnTo>
                    <a:pt x="1050290" y="913130"/>
                  </a:lnTo>
                  <a:lnTo>
                    <a:pt x="1050290" y="1812290"/>
                  </a:lnTo>
                  <a:lnTo>
                    <a:pt x="12192" y="1812290"/>
                  </a:lnTo>
                  <a:lnTo>
                    <a:pt x="12192" y="1818386"/>
                  </a:lnTo>
                  <a:lnTo>
                    <a:pt x="2111298" y="1818386"/>
                  </a:lnTo>
                  <a:lnTo>
                    <a:pt x="2111298" y="1812290"/>
                  </a:lnTo>
                  <a:lnTo>
                    <a:pt x="1074674" y="1812290"/>
                  </a:lnTo>
                  <a:lnTo>
                    <a:pt x="1068578" y="1812290"/>
                  </a:lnTo>
                  <a:lnTo>
                    <a:pt x="1068578" y="913130"/>
                  </a:lnTo>
                  <a:lnTo>
                    <a:pt x="2111298" y="913130"/>
                  </a:lnTo>
                  <a:lnTo>
                    <a:pt x="2111298" y="907034"/>
                  </a:lnTo>
                  <a:lnTo>
                    <a:pt x="1068578" y="907034"/>
                  </a:lnTo>
                  <a:lnTo>
                    <a:pt x="1068578" y="6096"/>
                  </a:lnTo>
                  <a:lnTo>
                    <a:pt x="2111298" y="6096"/>
                  </a:lnTo>
                  <a:lnTo>
                    <a:pt x="2111298" y="0"/>
                  </a:lnTo>
                  <a:close/>
                </a:path>
                <a:path w="2117725" h="1818639">
                  <a:moveTo>
                    <a:pt x="2117471" y="0"/>
                  </a:moveTo>
                  <a:lnTo>
                    <a:pt x="2111375" y="0"/>
                  </a:lnTo>
                  <a:lnTo>
                    <a:pt x="2111375" y="6045"/>
                  </a:lnTo>
                  <a:lnTo>
                    <a:pt x="2111375" y="907034"/>
                  </a:lnTo>
                  <a:lnTo>
                    <a:pt x="2111375" y="913130"/>
                  </a:lnTo>
                  <a:lnTo>
                    <a:pt x="2111375" y="1812290"/>
                  </a:lnTo>
                  <a:lnTo>
                    <a:pt x="2111375" y="1818386"/>
                  </a:lnTo>
                  <a:lnTo>
                    <a:pt x="2117471" y="1818386"/>
                  </a:lnTo>
                  <a:lnTo>
                    <a:pt x="2117471" y="6045"/>
                  </a:lnTo>
                  <a:lnTo>
                    <a:pt x="21174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18B9E374-41C7-2C5E-70FF-22BEF046F476}"/>
                </a:ext>
              </a:extLst>
            </p:cNvPr>
            <p:cNvGrpSpPr/>
            <p:nvPr/>
          </p:nvGrpSpPr>
          <p:grpSpPr>
            <a:xfrm>
              <a:off x="897104" y="567944"/>
              <a:ext cx="1222921" cy="1664436"/>
              <a:chOff x="921609" y="529903"/>
              <a:chExt cx="1222921" cy="1664436"/>
            </a:xfrm>
          </p:grpSpPr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5737FFA6-FCC9-B555-B7AD-09BEA9EBA05E}"/>
                  </a:ext>
                </a:extLst>
              </p:cNvPr>
              <p:cNvSpPr txBox="1"/>
              <p:nvPr/>
            </p:nvSpPr>
            <p:spPr>
              <a:xfrm>
                <a:off x="921609" y="529903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A</a:t>
                </a:r>
                <a:endParaRPr lang="zh-TW" altLang="en-US" sz="4800" dirty="0"/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3E657B6-59E3-6C44-099F-F7B26D275F7A}"/>
                  </a:ext>
                </a:extLst>
              </p:cNvPr>
              <p:cNvSpPr txBox="1"/>
              <p:nvPr/>
            </p:nvSpPr>
            <p:spPr>
              <a:xfrm>
                <a:off x="1515832" y="537760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D</a:t>
                </a:r>
                <a:endParaRPr lang="zh-TW" altLang="en-US" sz="4800" dirty="0"/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DE5C7953-0051-FC0B-EC60-BC23622050CE}"/>
                  </a:ext>
                </a:extLst>
              </p:cNvPr>
              <p:cNvSpPr txBox="1"/>
              <p:nvPr/>
            </p:nvSpPr>
            <p:spPr>
              <a:xfrm>
                <a:off x="949352" y="1360900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B</a:t>
                </a:r>
                <a:endParaRPr lang="zh-TW" altLang="en-US" sz="4800" dirty="0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3929B0A-86CD-07C1-498F-1168022E92C9}"/>
                  </a:ext>
                </a:extLst>
              </p:cNvPr>
              <p:cNvSpPr txBox="1"/>
              <p:nvPr/>
            </p:nvSpPr>
            <p:spPr>
              <a:xfrm>
                <a:off x="1510647" y="1363342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C</a:t>
                </a:r>
                <a:endParaRPr lang="zh-TW" altLang="en-US" sz="4800" dirty="0"/>
              </a:p>
            </p:txBody>
          </p:sp>
        </p:grp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63E40128-3D1A-21BC-5941-FD93EC414A65}"/>
              </a:ext>
            </a:extLst>
          </p:cNvPr>
          <p:cNvGrpSpPr/>
          <p:nvPr/>
        </p:nvGrpSpPr>
        <p:grpSpPr>
          <a:xfrm>
            <a:off x="3634911" y="4865157"/>
            <a:ext cx="2117725" cy="1818639"/>
            <a:chOff x="457204" y="457203"/>
            <a:chExt cx="2117725" cy="1818639"/>
          </a:xfrm>
        </p:grpSpPr>
        <p:sp>
          <p:nvSpPr>
            <p:cNvPr id="31" name="object 12">
              <a:extLst>
                <a:ext uri="{FF2B5EF4-FFF2-40B4-BE49-F238E27FC236}">
                  <a16:creationId xmlns:a16="http://schemas.microsoft.com/office/drawing/2014/main" id="{07FF30F9-C4C7-747B-4A70-3657B1E9FAFF}"/>
                </a:ext>
              </a:extLst>
            </p:cNvPr>
            <p:cNvSpPr/>
            <p:nvPr/>
          </p:nvSpPr>
          <p:spPr>
            <a:xfrm>
              <a:off x="457204" y="457203"/>
              <a:ext cx="2117725" cy="1818639"/>
            </a:xfrm>
            <a:custGeom>
              <a:avLst/>
              <a:gdLst/>
              <a:ahLst/>
              <a:cxnLst/>
              <a:rect l="l" t="t" r="r" b="b"/>
              <a:pathLst>
                <a:path w="2117725" h="1818639">
                  <a:moveTo>
                    <a:pt x="2111298" y="0"/>
                  </a:moveTo>
                  <a:lnTo>
                    <a:pt x="1062482" y="0"/>
                  </a:lnTo>
                  <a:lnTo>
                    <a:pt x="1062482" y="6096"/>
                  </a:lnTo>
                  <a:lnTo>
                    <a:pt x="1062482" y="907034"/>
                  </a:lnTo>
                  <a:lnTo>
                    <a:pt x="1062482" y="913130"/>
                  </a:lnTo>
                  <a:lnTo>
                    <a:pt x="1062482" y="1812290"/>
                  </a:lnTo>
                  <a:lnTo>
                    <a:pt x="1056386" y="1812290"/>
                  </a:lnTo>
                  <a:lnTo>
                    <a:pt x="1056386" y="913130"/>
                  </a:lnTo>
                  <a:lnTo>
                    <a:pt x="1056386" y="907034"/>
                  </a:lnTo>
                  <a:lnTo>
                    <a:pt x="1056386" y="6096"/>
                  </a:lnTo>
                  <a:lnTo>
                    <a:pt x="1062482" y="6096"/>
                  </a:lnTo>
                  <a:lnTo>
                    <a:pt x="1062482" y="0"/>
                  </a:lnTo>
                  <a:lnTo>
                    <a:pt x="1056386" y="0"/>
                  </a:lnTo>
                  <a:lnTo>
                    <a:pt x="1050340" y="0"/>
                  </a:lnTo>
                  <a:lnTo>
                    <a:pt x="1050290" y="6096"/>
                  </a:lnTo>
                  <a:lnTo>
                    <a:pt x="1050290" y="907034"/>
                  </a:lnTo>
                  <a:lnTo>
                    <a:pt x="6096" y="907034"/>
                  </a:lnTo>
                  <a:lnTo>
                    <a:pt x="6096" y="6096"/>
                  </a:lnTo>
                  <a:lnTo>
                    <a:pt x="1050290" y="6096"/>
                  </a:lnTo>
                  <a:lnTo>
                    <a:pt x="105029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45"/>
                  </a:lnTo>
                  <a:lnTo>
                    <a:pt x="0" y="1818386"/>
                  </a:lnTo>
                  <a:lnTo>
                    <a:pt x="6096" y="1818386"/>
                  </a:lnTo>
                  <a:lnTo>
                    <a:pt x="12179" y="1818386"/>
                  </a:lnTo>
                  <a:lnTo>
                    <a:pt x="12179" y="1812290"/>
                  </a:lnTo>
                  <a:lnTo>
                    <a:pt x="6096" y="1812290"/>
                  </a:lnTo>
                  <a:lnTo>
                    <a:pt x="6096" y="913130"/>
                  </a:lnTo>
                  <a:lnTo>
                    <a:pt x="1050290" y="913130"/>
                  </a:lnTo>
                  <a:lnTo>
                    <a:pt x="1050290" y="1812290"/>
                  </a:lnTo>
                  <a:lnTo>
                    <a:pt x="12192" y="1812290"/>
                  </a:lnTo>
                  <a:lnTo>
                    <a:pt x="12192" y="1818386"/>
                  </a:lnTo>
                  <a:lnTo>
                    <a:pt x="2111298" y="1818386"/>
                  </a:lnTo>
                  <a:lnTo>
                    <a:pt x="2111298" y="1812290"/>
                  </a:lnTo>
                  <a:lnTo>
                    <a:pt x="1074674" y="1812290"/>
                  </a:lnTo>
                  <a:lnTo>
                    <a:pt x="1068578" y="1812290"/>
                  </a:lnTo>
                  <a:lnTo>
                    <a:pt x="1068578" y="913130"/>
                  </a:lnTo>
                  <a:lnTo>
                    <a:pt x="2111298" y="913130"/>
                  </a:lnTo>
                  <a:lnTo>
                    <a:pt x="2111298" y="907034"/>
                  </a:lnTo>
                  <a:lnTo>
                    <a:pt x="1068578" y="907034"/>
                  </a:lnTo>
                  <a:lnTo>
                    <a:pt x="1068578" y="6096"/>
                  </a:lnTo>
                  <a:lnTo>
                    <a:pt x="2111298" y="6096"/>
                  </a:lnTo>
                  <a:lnTo>
                    <a:pt x="2111298" y="0"/>
                  </a:lnTo>
                  <a:close/>
                </a:path>
                <a:path w="2117725" h="1818639">
                  <a:moveTo>
                    <a:pt x="2117471" y="0"/>
                  </a:moveTo>
                  <a:lnTo>
                    <a:pt x="2111375" y="0"/>
                  </a:lnTo>
                  <a:lnTo>
                    <a:pt x="2111375" y="6045"/>
                  </a:lnTo>
                  <a:lnTo>
                    <a:pt x="2111375" y="907034"/>
                  </a:lnTo>
                  <a:lnTo>
                    <a:pt x="2111375" y="913130"/>
                  </a:lnTo>
                  <a:lnTo>
                    <a:pt x="2111375" y="1812290"/>
                  </a:lnTo>
                  <a:lnTo>
                    <a:pt x="2111375" y="1818386"/>
                  </a:lnTo>
                  <a:lnTo>
                    <a:pt x="2117471" y="1818386"/>
                  </a:lnTo>
                  <a:lnTo>
                    <a:pt x="2117471" y="6045"/>
                  </a:lnTo>
                  <a:lnTo>
                    <a:pt x="21174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8A234D6D-7219-3D13-914F-56B0EDE4B503}"/>
                </a:ext>
              </a:extLst>
            </p:cNvPr>
            <p:cNvGrpSpPr/>
            <p:nvPr/>
          </p:nvGrpSpPr>
          <p:grpSpPr>
            <a:xfrm>
              <a:off x="897104" y="567944"/>
              <a:ext cx="1222921" cy="1664436"/>
              <a:chOff x="921609" y="529903"/>
              <a:chExt cx="1222921" cy="1664436"/>
            </a:xfrm>
          </p:grpSpPr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0FA88B5-325E-D5F4-2028-E7BAB5D79731}"/>
                  </a:ext>
                </a:extLst>
              </p:cNvPr>
              <p:cNvSpPr txBox="1"/>
              <p:nvPr/>
            </p:nvSpPr>
            <p:spPr>
              <a:xfrm>
                <a:off x="921609" y="529903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A</a:t>
                </a:r>
                <a:endParaRPr lang="zh-TW" altLang="en-US" sz="4800" dirty="0"/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4C91481-8938-61D7-439D-1E1C775B9A6B}"/>
                  </a:ext>
                </a:extLst>
              </p:cNvPr>
              <p:cNvSpPr txBox="1"/>
              <p:nvPr/>
            </p:nvSpPr>
            <p:spPr>
              <a:xfrm>
                <a:off x="1515832" y="537760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D</a:t>
                </a:r>
                <a:endParaRPr lang="zh-TW" altLang="en-US" sz="4800" dirty="0"/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93F43DC-16EA-336A-5C41-7143BD5AF31F}"/>
                  </a:ext>
                </a:extLst>
              </p:cNvPr>
              <p:cNvSpPr txBox="1"/>
              <p:nvPr/>
            </p:nvSpPr>
            <p:spPr>
              <a:xfrm>
                <a:off x="949352" y="1360900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B</a:t>
                </a:r>
                <a:endParaRPr lang="zh-TW" altLang="en-US" sz="4800" dirty="0"/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B89D66D1-2B1D-B962-7452-A4CDDE47C0A1}"/>
                  </a:ext>
                </a:extLst>
              </p:cNvPr>
              <p:cNvSpPr txBox="1"/>
              <p:nvPr/>
            </p:nvSpPr>
            <p:spPr>
              <a:xfrm>
                <a:off x="1510647" y="1363342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C</a:t>
                </a:r>
                <a:endParaRPr lang="zh-TW" altLang="en-US" sz="4800" dirty="0"/>
              </a:p>
            </p:txBody>
          </p:sp>
        </p:grp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3E3535E5-E204-5D56-1807-C9BC51B158FF}"/>
              </a:ext>
            </a:extLst>
          </p:cNvPr>
          <p:cNvGrpSpPr/>
          <p:nvPr/>
        </p:nvGrpSpPr>
        <p:grpSpPr>
          <a:xfrm>
            <a:off x="8296968" y="2880242"/>
            <a:ext cx="2117725" cy="1818639"/>
            <a:chOff x="457204" y="457203"/>
            <a:chExt cx="2117725" cy="1818639"/>
          </a:xfrm>
        </p:grpSpPr>
        <p:sp>
          <p:nvSpPr>
            <p:cNvPr id="38" name="object 12">
              <a:extLst>
                <a:ext uri="{FF2B5EF4-FFF2-40B4-BE49-F238E27FC236}">
                  <a16:creationId xmlns:a16="http://schemas.microsoft.com/office/drawing/2014/main" id="{1C46B033-9991-D9E2-1809-A797DE2AC770}"/>
                </a:ext>
              </a:extLst>
            </p:cNvPr>
            <p:cNvSpPr/>
            <p:nvPr/>
          </p:nvSpPr>
          <p:spPr>
            <a:xfrm>
              <a:off x="457204" y="457203"/>
              <a:ext cx="2117725" cy="1818639"/>
            </a:xfrm>
            <a:custGeom>
              <a:avLst/>
              <a:gdLst/>
              <a:ahLst/>
              <a:cxnLst/>
              <a:rect l="l" t="t" r="r" b="b"/>
              <a:pathLst>
                <a:path w="2117725" h="1818639">
                  <a:moveTo>
                    <a:pt x="2111298" y="0"/>
                  </a:moveTo>
                  <a:lnTo>
                    <a:pt x="1062482" y="0"/>
                  </a:lnTo>
                  <a:lnTo>
                    <a:pt x="1062482" y="6096"/>
                  </a:lnTo>
                  <a:lnTo>
                    <a:pt x="1062482" y="907034"/>
                  </a:lnTo>
                  <a:lnTo>
                    <a:pt x="1062482" y="913130"/>
                  </a:lnTo>
                  <a:lnTo>
                    <a:pt x="1062482" y="1812290"/>
                  </a:lnTo>
                  <a:lnTo>
                    <a:pt x="1056386" y="1812290"/>
                  </a:lnTo>
                  <a:lnTo>
                    <a:pt x="1056386" y="913130"/>
                  </a:lnTo>
                  <a:lnTo>
                    <a:pt x="1056386" y="907034"/>
                  </a:lnTo>
                  <a:lnTo>
                    <a:pt x="1056386" y="6096"/>
                  </a:lnTo>
                  <a:lnTo>
                    <a:pt x="1062482" y="6096"/>
                  </a:lnTo>
                  <a:lnTo>
                    <a:pt x="1062482" y="0"/>
                  </a:lnTo>
                  <a:lnTo>
                    <a:pt x="1056386" y="0"/>
                  </a:lnTo>
                  <a:lnTo>
                    <a:pt x="1050340" y="0"/>
                  </a:lnTo>
                  <a:lnTo>
                    <a:pt x="1050290" y="6096"/>
                  </a:lnTo>
                  <a:lnTo>
                    <a:pt x="1050290" y="907034"/>
                  </a:lnTo>
                  <a:lnTo>
                    <a:pt x="6096" y="907034"/>
                  </a:lnTo>
                  <a:lnTo>
                    <a:pt x="6096" y="6096"/>
                  </a:lnTo>
                  <a:lnTo>
                    <a:pt x="1050290" y="6096"/>
                  </a:lnTo>
                  <a:lnTo>
                    <a:pt x="105029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45"/>
                  </a:lnTo>
                  <a:lnTo>
                    <a:pt x="0" y="1818386"/>
                  </a:lnTo>
                  <a:lnTo>
                    <a:pt x="6096" y="1818386"/>
                  </a:lnTo>
                  <a:lnTo>
                    <a:pt x="12179" y="1818386"/>
                  </a:lnTo>
                  <a:lnTo>
                    <a:pt x="12179" y="1812290"/>
                  </a:lnTo>
                  <a:lnTo>
                    <a:pt x="6096" y="1812290"/>
                  </a:lnTo>
                  <a:lnTo>
                    <a:pt x="6096" y="913130"/>
                  </a:lnTo>
                  <a:lnTo>
                    <a:pt x="1050290" y="913130"/>
                  </a:lnTo>
                  <a:lnTo>
                    <a:pt x="1050290" y="1812290"/>
                  </a:lnTo>
                  <a:lnTo>
                    <a:pt x="12192" y="1812290"/>
                  </a:lnTo>
                  <a:lnTo>
                    <a:pt x="12192" y="1818386"/>
                  </a:lnTo>
                  <a:lnTo>
                    <a:pt x="2111298" y="1818386"/>
                  </a:lnTo>
                  <a:lnTo>
                    <a:pt x="2111298" y="1812290"/>
                  </a:lnTo>
                  <a:lnTo>
                    <a:pt x="1074674" y="1812290"/>
                  </a:lnTo>
                  <a:lnTo>
                    <a:pt x="1068578" y="1812290"/>
                  </a:lnTo>
                  <a:lnTo>
                    <a:pt x="1068578" y="913130"/>
                  </a:lnTo>
                  <a:lnTo>
                    <a:pt x="2111298" y="913130"/>
                  </a:lnTo>
                  <a:lnTo>
                    <a:pt x="2111298" y="907034"/>
                  </a:lnTo>
                  <a:lnTo>
                    <a:pt x="1068578" y="907034"/>
                  </a:lnTo>
                  <a:lnTo>
                    <a:pt x="1068578" y="6096"/>
                  </a:lnTo>
                  <a:lnTo>
                    <a:pt x="2111298" y="6096"/>
                  </a:lnTo>
                  <a:lnTo>
                    <a:pt x="2111298" y="0"/>
                  </a:lnTo>
                  <a:close/>
                </a:path>
                <a:path w="2117725" h="1818639">
                  <a:moveTo>
                    <a:pt x="2117471" y="0"/>
                  </a:moveTo>
                  <a:lnTo>
                    <a:pt x="2111375" y="0"/>
                  </a:lnTo>
                  <a:lnTo>
                    <a:pt x="2111375" y="6045"/>
                  </a:lnTo>
                  <a:lnTo>
                    <a:pt x="2111375" y="907034"/>
                  </a:lnTo>
                  <a:lnTo>
                    <a:pt x="2111375" y="913130"/>
                  </a:lnTo>
                  <a:lnTo>
                    <a:pt x="2111375" y="1812290"/>
                  </a:lnTo>
                  <a:lnTo>
                    <a:pt x="2111375" y="1818386"/>
                  </a:lnTo>
                  <a:lnTo>
                    <a:pt x="2117471" y="1818386"/>
                  </a:lnTo>
                  <a:lnTo>
                    <a:pt x="2117471" y="6045"/>
                  </a:lnTo>
                  <a:lnTo>
                    <a:pt x="21174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31B37E13-F7D6-8E43-A15E-34B469C6A5A7}"/>
                </a:ext>
              </a:extLst>
            </p:cNvPr>
            <p:cNvGrpSpPr/>
            <p:nvPr/>
          </p:nvGrpSpPr>
          <p:grpSpPr>
            <a:xfrm>
              <a:off x="897104" y="567944"/>
              <a:ext cx="1222921" cy="1664436"/>
              <a:chOff x="921609" y="529903"/>
              <a:chExt cx="1222921" cy="1664436"/>
            </a:xfrm>
          </p:grpSpPr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26A5EF2-CC94-D082-1F26-2647985F79F0}"/>
                  </a:ext>
                </a:extLst>
              </p:cNvPr>
              <p:cNvSpPr txBox="1"/>
              <p:nvPr/>
            </p:nvSpPr>
            <p:spPr>
              <a:xfrm>
                <a:off x="921609" y="529903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A</a:t>
                </a:r>
                <a:endParaRPr lang="zh-TW" altLang="en-US" sz="4800" dirty="0"/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9F0AF911-F0C2-36B9-2B4C-0206D6E16D32}"/>
                  </a:ext>
                </a:extLst>
              </p:cNvPr>
              <p:cNvSpPr txBox="1"/>
              <p:nvPr/>
            </p:nvSpPr>
            <p:spPr>
              <a:xfrm>
                <a:off x="1515832" y="537760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D</a:t>
                </a:r>
                <a:endParaRPr lang="zh-TW" altLang="en-US" sz="4800" dirty="0"/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9B56F070-84F0-1586-ECD3-FB6854F80505}"/>
                  </a:ext>
                </a:extLst>
              </p:cNvPr>
              <p:cNvSpPr txBox="1"/>
              <p:nvPr/>
            </p:nvSpPr>
            <p:spPr>
              <a:xfrm>
                <a:off x="949352" y="1360900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B</a:t>
                </a:r>
                <a:endParaRPr lang="zh-TW" altLang="en-US" sz="4800" dirty="0"/>
              </a:p>
            </p:txBody>
          </p: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83B487ED-1F0E-5F70-CB80-A32CF536AA68}"/>
                  </a:ext>
                </a:extLst>
              </p:cNvPr>
              <p:cNvSpPr txBox="1"/>
              <p:nvPr/>
            </p:nvSpPr>
            <p:spPr>
              <a:xfrm>
                <a:off x="1510647" y="1363342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C</a:t>
                </a:r>
                <a:endParaRPr lang="zh-TW" altLang="en-US" sz="4800" dirty="0"/>
              </a:p>
            </p:txBody>
          </p:sp>
        </p:grp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F9DE337B-BE89-5677-FCD5-9FB05A85504F}"/>
              </a:ext>
            </a:extLst>
          </p:cNvPr>
          <p:cNvGrpSpPr/>
          <p:nvPr/>
        </p:nvGrpSpPr>
        <p:grpSpPr>
          <a:xfrm>
            <a:off x="8267043" y="879548"/>
            <a:ext cx="2117725" cy="1818639"/>
            <a:chOff x="457204" y="457203"/>
            <a:chExt cx="2117725" cy="1818639"/>
          </a:xfrm>
        </p:grpSpPr>
        <p:sp>
          <p:nvSpPr>
            <p:cNvPr id="45" name="object 12">
              <a:extLst>
                <a:ext uri="{FF2B5EF4-FFF2-40B4-BE49-F238E27FC236}">
                  <a16:creationId xmlns:a16="http://schemas.microsoft.com/office/drawing/2014/main" id="{C65B7AC2-B0B5-96C0-9CE4-BA62FE97537E}"/>
                </a:ext>
              </a:extLst>
            </p:cNvPr>
            <p:cNvSpPr/>
            <p:nvPr/>
          </p:nvSpPr>
          <p:spPr>
            <a:xfrm>
              <a:off x="457204" y="457203"/>
              <a:ext cx="2117725" cy="1818639"/>
            </a:xfrm>
            <a:custGeom>
              <a:avLst/>
              <a:gdLst/>
              <a:ahLst/>
              <a:cxnLst/>
              <a:rect l="l" t="t" r="r" b="b"/>
              <a:pathLst>
                <a:path w="2117725" h="1818639">
                  <a:moveTo>
                    <a:pt x="2111298" y="0"/>
                  </a:moveTo>
                  <a:lnTo>
                    <a:pt x="1062482" y="0"/>
                  </a:lnTo>
                  <a:lnTo>
                    <a:pt x="1062482" y="6096"/>
                  </a:lnTo>
                  <a:lnTo>
                    <a:pt x="1062482" y="907034"/>
                  </a:lnTo>
                  <a:lnTo>
                    <a:pt x="1062482" y="913130"/>
                  </a:lnTo>
                  <a:lnTo>
                    <a:pt x="1062482" y="1812290"/>
                  </a:lnTo>
                  <a:lnTo>
                    <a:pt x="1056386" y="1812290"/>
                  </a:lnTo>
                  <a:lnTo>
                    <a:pt x="1056386" y="913130"/>
                  </a:lnTo>
                  <a:lnTo>
                    <a:pt x="1056386" y="907034"/>
                  </a:lnTo>
                  <a:lnTo>
                    <a:pt x="1056386" y="6096"/>
                  </a:lnTo>
                  <a:lnTo>
                    <a:pt x="1062482" y="6096"/>
                  </a:lnTo>
                  <a:lnTo>
                    <a:pt x="1062482" y="0"/>
                  </a:lnTo>
                  <a:lnTo>
                    <a:pt x="1056386" y="0"/>
                  </a:lnTo>
                  <a:lnTo>
                    <a:pt x="1050340" y="0"/>
                  </a:lnTo>
                  <a:lnTo>
                    <a:pt x="1050290" y="6096"/>
                  </a:lnTo>
                  <a:lnTo>
                    <a:pt x="1050290" y="907034"/>
                  </a:lnTo>
                  <a:lnTo>
                    <a:pt x="6096" y="907034"/>
                  </a:lnTo>
                  <a:lnTo>
                    <a:pt x="6096" y="6096"/>
                  </a:lnTo>
                  <a:lnTo>
                    <a:pt x="1050290" y="6096"/>
                  </a:lnTo>
                  <a:lnTo>
                    <a:pt x="1050290" y="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045"/>
                  </a:lnTo>
                  <a:lnTo>
                    <a:pt x="0" y="1818386"/>
                  </a:lnTo>
                  <a:lnTo>
                    <a:pt x="6096" y="1818386"/>
                  </a:lnTo>
                  <a:lnTo>
                    <a:pt x="12179" y="1818386"/>
                  </a:lnTo>
                  <a:lnTo>
                    <a:pt x="12179" y="1812290"/>
                  </a:lnTo>
                  <a:lnTo>
                    <a:pt x="6096" y="1812290"/>
                  </a:lnTo>
                  <a:lnTo>
                    <a:pt x="6096" y="913130"/>
                  </a:lnTo>
                  <a:lnTo>
                    <a:pt x="1050290" y="913130"/>
                  </a:lnTo>
                  <a:lnTo>
                    <a:pt x="1050290" y="1812290"/>
                  </a:lnTo>
                  <a:lnTo>
                    <a:pt x="12192" y="1812290"/>
                  </a:lnTo>
                  <a:lnTo>
                    <a:pt x="12192" y="1818386"/>
                  </a:lnTo>
                  <a:lnTo>
                    <a:pt x="2111298" y="1818386"/>
                  </a:lnTo>
                  <a:lnTo>
                    <a:pt x="2111298" y="1812290"/>
                  </a:lnTo>
                  <a:lnTo>
                    <a:pt x="1074674" y="1812290"/>
                  </a:lnTo>
                  <a:lnTo>
                    <a:pt x="1068578" y="1812290"/>
                  </a:lnTo>
                  <a:lnTo>
                    <a:pt x="1068578" y="913130"/>
                  </a:lnTo>
                  <a:lnTo>
                    <a:pt x="2111298" y="913130"/>
                  </a:lnTo>
                  <a:lnTo>
                    <a:pt x="2111298" y="907034"/>
                  </a:lnTo>
                  <a:lnTo>
                    <a:pt x="1068578" y="907034"/>
                  </a:lnTo>
                  <a:lnTo>
                    <a:pt x="1068578" y="6096"/>
                  </a:lnTo>
                  <a:lnTo>
                    <a:pt x="2111298" y="6096"/>
                  </a:lnTo>
                  <a:lnTo>
                    <a:pt x="2111298" y="0"/>
                  </a:lnTo>
                  <a:close/>
                </a:path>
                <a:path w="2117725" h="1818639">
                  <a:moveTo>
                    <a:pt x="2117471" y="0"/>
                  </a:moveTo>
                  <a:lnTo>
                    <a:pt x="2111375" y="0"/>
                  </a:lnTo>
                  <a:lnTo>
                    <a:pt x="2111375" y="6045"/>
                  </a:lnTo>
                  <a:lnTo>
                    <a:pt x="2111375" y="907034"/>
                  </a:lnTo>
                  <a:lnTo>
                    <a:pt x="2111375" y="913130"/>
                  </a:lnTo>
                  <a:lnTo>
                    <a:pt x="2111375" y="1812290"/>
                  </a:lnTo>
                  <a:lnTo>
                    <a:pt x="2111375" y="1818386"/>
                  </a:lnTo>
                  <a:lnTo>
                    <a:pt x="2117471" y="1818386"/>
                  </a:lnTo>
                  <a:lnTo>
                    <a:pt x="2117471" y="6045"/>
                  </a:lnTo>
                  <a:lnTo>
                    <a:pt x="21174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9BFF5320-BF16-E779-3972-72590C1C2D6F}"/>
                </a:ext>
              </a:extLst>
            </p:cNvPr>
            <p:cNvGrpSpPr/>
            <p:nvPr/>
          </p:nvGrpSpPr>
          <p:grpSpPr>
            <a:xfrm>
              <a:off x="897104" y="567944"/>
              <a:ext cx="1222921" cy="1664436"/>
              <a:chOff x="921609" y="529903"/>
              <a:chExt cx="1222921" cy="1664436"/>
            </a:xfrm>
          </p:grpSpPr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44C2ACE-4631-F8D2-71C1-41B11B2212F8}"/>
                  </a:ext>
                </a:extLst>
              </p:cNvPr>
              <p:cNvSpPr txBox="1"/>
              <p:nvPr/>
            </p:nvSpPr>
            <p:spPr>
              <a:xfrm>
                <a:off x="921609" y="529903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A</a:t>
                </a:r>
                <a:endParaRPr lang="zh-TW" altLang="en-US" sz="4800" dirty="0"/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8AA46CE6-D300-7062-06F2-0ADFEB20638A}"/>
                  </a:ext>
                </a:extLst>
              </p:cNvPr>
              <p:cNvSpPr txBox="1"/>
              <p:nvPr/>
            </p:nvSpPr>
            <p:spPr>
              <a:xfrm>
                <a:off x="1515832" y="537760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D</a:t>
                </a:r>
                <a:endParaRPr lang="zh-TW" altLang="en-US" sz="4800" dirty="0"/>
              </a:p>
            </p:txBody>
          </p:sp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F10EFB3A-D8FE-8DF0-287C-B032BA15A131}"/>
                  </a:ext>
                </a:extLst>
              </p:cNvPr>
              <p:cNvSpPr txBox="1"/>
              <p:nvPr/>
            </p:nvSpPr>
            <p:spPr>
              <a:xfrm>
                <a:off x="949352" y="1360900"/>
                <a:ext cx="595035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B</a:t>
                </a:r>
                <a:endParaRPr lang="zh-TW" altLang="en-US" sz="4800" dirty="0"/>
              </a:p>
            </p:txBody>
          </p: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47F3D64D-C4AC-E36B-2F60-53FF905CC8B6}"/>
                  </a:ext>
                </a:extLst>
              </p:cNvPr>
              <p:cNvSpPr txBox="1"/>
              <p:nvPr/>
            </p:nvSpPr>
            <p:spPr>
              <a:xfrm>
                <a:off x="1510647" y="1363342"/>
                <a:ext cx="628698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800" dirty="0"/>
                  <a:t>C</a:t>
                </a:r>
                <a:endParaRPr lang="zh-TW" altLang="en-US" sz="4800" dirty="0"/>
              </a:p>
            </p:txBody>
          </p:sp>
        </p:grp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241ED14B-FF1A-FB3E-3845-9BC201E4CBF7}"/>
              </a:ext>
            </a:extLst>
          </p:cNvPr>
          <p:cNvSpPr txBox="1"/>
          <p:nvPr/>
        </p:nvSpPr>
        <p:spPr>
          <a:xfrm>
            <a:off x="5644594" y="434651"/>
            <a:ext cx="90281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dirty="0"/>
              <a:t>黑板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409443B-B9A9-7780-F5A6-A15B3EC6CEE3}"/>
              </a:ext>
            </a:extLst>
          </p:cNvPr>
          <p:cNvSpPr txBox="1"/>
          <p:nvPr/>
        </p:nvSpPr>
        <p:spPr>
          <a:xfrm>
            <a:off x="8250160" y="879548"/>
            <a:ext cx="1360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陳弘祐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E49061F1-D534-5485-C299-BE850641A4E0}"/>
              </a:ext>
            </a:extLst>
          </p:cNvPr>
          <p:cNvSpPr txBox="1"/>
          <p:nvPr/>
        </p:nvSpPr>
        <p:spPr>
          <a:xfrm>
            <a:off x="8261858" y="2330076"/>
            <a:ext cx="948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張罡維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6B3F97EB-C212-FA17-F5D5-D0BE50B2B72D}"/>
              </a:ext>
            </a:extLst>
          </p:cNvPr>
          <p:cNvSpPr txBox="1"/>
          <p:nvPr/>
        </p:nvSpPr>
        <p:spPr>
          <a:xfrm>
            <a:off x="2086431" y="4412687"/>
            <a:ext cx="939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林烽詳</a:t>
            </a: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4406E88-DC7E-FB33-8ED7-6419BE14E3DF}"/>
              </a:ext>
            </a:extLst>
          </p:cNvPr>
          <p:cNvSpPr txBox="1"/>
          <p:nvPr/>
        </p:nvSpPr>
        <p:spPr>
          <a:xfrm>
            <a:off x="9355830" y="858160"/>
            <a:ext cx="893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徐楚婷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7797AE94-6341-A9BE-082D-1196D9C957DB}"/>
              </a:ext>
            </a:extLst>
          </p:cNvPr>
          <p:cNvSpPr txBox="1"/>
          <p:nvPr/>
        </p:nvSpPr>
        <p:spPr>
          <a:xfrm>
            <a:off x="3202068" y="2857633"/>
            <a:ext cx="875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何寀杄</a:t>
            </a:r>
          </a:p>
        </p:txBody>
      </p:sp>
    </p:spTree>
    <p:extLst>
      <p:ext uri="{BB962C8B-B14F-4D97-AF65-F5344CB8AC3E}">
        <p14:creationId xmlns:p14="http://schemas.microsoft.com/office/powerpoint/2010/main" val="3016996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DB2A-A212-475E-770C-684A3D17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F20DC7-BB19-831C-F86A-5975A2663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核心概念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B8BE47-859C-F003-9575-72EF9A496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9008"/>
            <a:ext cx="10515600" cy="4886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dirty="0"/>
              <a:t>一、分數的意義</a:t>
            </a:r>
          </a:p>
          <a:p>
            <a:pPr marL="0" indent="0">
              <a:buNone/>
            </a:pPr>
            <a:r>
              <a:rPr lang="en-US" altLang="zh-TW" dirty="0"/>
              <a:t>  (</a:t>
            </a:r>
            <a:r>
              <a:rPr lang="zh-TW" altLang="zh-TW" dirty="0"/>
              <a:t>一</a:t>
            </a:r>
            <a:r>
              <a:rPr lang="en-US" altLang="zh-TW" dirty="0"/>
              <a:t>)</a:t>
            </a:r>
            <a:r>
              <a:rPr lang="zh-TW" altLang="zh-TW" dirty="0"/>
              <a:t>分數是以「部分 ÷ 整體」描述部分與整體的關係。</a:t>
            </a:r>
          </a:p>
          <a:p>
            <a:pPr marL="0" indent="0">
              <a:buNone/>
            </a:pPr>
            <a:r>
              <a:rPr lang="en-US" altLang="zh-TW" dirty="0"/>
              <a:t>  (</a:t>
            </a:r>
            <a:r>
              <a:rPr lang="zh-TW" altLang="zh-TW" dirty="0"/>
              <a:t>二</a:t>
            </a:r>
            <a:r>
              <a:rPr lang="en-US" altLang="zh-TW" dirty="0"/>
              <a:t>)</a:t>
            </a:r>
            <a:r>
              <a:rPr lang="zh-TW" altLang="zh-TW" dirty="0"/>
              <a:t>能力檢測題裡的「部分」是</a:t>
            </a:r>
            <a:r>
              <a:rPr lang="en-US" altLang="zh-TW" dirty="0"/>
              <a:t> 12</a:t>
            </a:r>
            <a:r>
              <a:rPr lang="zh-TW" altLang="zh-TW" dirty="0"/>
              <a:t>片，「整體」是 一盒</a:t>
            </a:r>
            <a:r>
              <a:rPr lang="en-US" altLang="zh-TW" dirty="0"/>
              <a:t>40</a:t>
            </a:r>
            <a:r>
              <a:rPr lang="zh-TW" altLang="zh-TW" dirty="0"/>
              <a:t>片。</a:t>
            </a:r>
          </a:p>
          <a:p>
            <a:pPr marL="0" indent="0">
              <a:buNone/>
            </a:pPr>
            <a:r>
              <a:rPr lang="en-US" altLang="zh-TW" dirty="0"/>
              <a:t>  (</a:t>
            </a:r>
            <a:r>
              <a:rPr lang="zh-TW" altLang="zh-TW" dirty="0"/>
              <a:t>三</a:t>
            </a:r>
            <a:r>
              <a:rPr lang="en-US" altLang="zh-TW" dirty="0"/>
              <a:t>)</a:t>
            </a:r>
            <a:r>
              <a:rPr lang="zh-TW" altLang="zh-TW" dirty="0"/>
              <a:t>學生要理解：分數不是隨便兩個數字湊起來，而是有「部分與整體」的關係。學生需要學會判斷「我現在是拿</a:t>
            </a:r>
            <a:r>
              <a:rPr lang="en-US" altLang="zh-TW" dirty="0"/>
              <a:t>12</a:t>
            </a:r>
            <a:r>
              <a:rPr lang="zh-TW" altLang="zh-TW" dirty="0"/>
              <a:t>片在跟一盒比，還是跟全部二盒比」。</a:t>
            </a:r>
          </a:p>
          <a:p>
            <a:pPr marL="0" indent="0">
              <a:buNone/>
            </a:pPr>
            <a:r>
              <a:rPr lang="zh-TW" altLang="zh-TW" dirty="0"/>
              <a:t>二、離散量情境中的分數表徵</a:t>
            </a:r>
          </a:p>
          <a:p>
            <a:pPr marL="0" indent="0">
              <a:buNone/>
            </a:pPr>
            <a:r>
              <a:rPr lang="en-US" altLang="zh-TW" dirty="0"/>
              <a:t>  (</a:t>
            </a:r>
            <a:r>
              <a:rPr lang="zh-TW" altLang="zh-TW" dirty="0"/>
              <a:t>一</a:t>
            </a:r>
            <a:r>
              <a:rPr lang="en-US" altLang="zh-TW" dirty="0"/>
              <a:t>)</a:t>
            </a:r>
            <a:r>
              <a:rPr lang="zh-TW" altLang="zh-TW" dirty="0"/>
              <a:t>能力檢測題中的單位：一盒</a:t>
            </a:r>
            <a:r>
              <a:rPr lang="en-US" altLang="zh-TW" dirty="0"/>
              <a:t> = 40</a:t>
            </a:r>
            <a:r>
              <a:rPr lang="zh-TW" altLang="zh-TW" dirty="0"/>
              <a:t>片。</a:t>
            </a:r>
          </a:p>
          <a:p>
            <a:pPr marL="0" indent="0">
              <a:buNone/>
            </a:pPr>
            <a:r>
              <a:rPr lang="en-US" altLang="zh-TW" dirty="0"/>
              <a:t>  (</a:t>
            </a:r>
            <a:r>
              <a:rPr lang="zh-TW" altLang="zh-TW" dirty="0"/>
              <a:t>二</a:t>
            </a:r>
            <a:r>
              <a:rPr lang="en-US" altLang="zh-TW" dirty="0"/>
              <a:t>)</a:t>
            </a:r>
            <a:r>
              <a:rPr lang="zh-TW" altLang="zh-TW" dirty="0"/>
              <a:t>學生要理解：當題目問「幾盒」時，就要拿吃掉的片數去跟「一盒有幾片」相比。要能知道比較的整體為何。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191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C7700-408D-282D-0627-FDE58DD25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A3EA16-5421-F837-935C-663C78BF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班級概況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71ED04-1E08-2F77-F5CE-8BAC56C1C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3176144"/>
          </a:xfrm>
        </p:spPr>
        <p:txBody>
          <a:bodyPr>
            <a:normAutofit/>
          </a:bodyPr>
          <a:lstStyle/>
          <a:p>
            <a:pPr lv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座</a:t>
            </a:r>
            <a:r>
              <a:rPr lang="zh-TW" altLang="en-US" dirty="0"/>
              <a:t>位為</a:t>
            </a:r>
            <a:r>
              <a:rPr lang="en-US" altLang="zh-TW" dirty="0"/>
              <a:t>2</a:t>
            </a:r>
            <a:r>
              <a:rPr lang="zh-TW" altLang="en-US" dirty="0"/>
              <a:t>人一組，面向黑板排列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0"/>
            <a:r>
              <a:rPr lang="zh-TW" altLang="en-US" dirty="0"/>
              <a:t>剛升上五年級，同學間仍在熟悉、適應階段</a:t>
            </a:r>
            <a:endParaRPr lang="en-US" altLang="zh-TW" dirty="0"/>
          </a:p>
          <a:p>
            <a:pPr lv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課堂教學較少兩兩或小組討論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9202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9092-4635-DED4-1BC2-E5C21F14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E484AF-BE5D-7341-0817-D61CB6835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預測學生學習行為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7FD079-5EA1-DFF0-B9FA-BB470F19D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3176144"/>
          </a:xfrm>
        </p:spPr>
        <p:txBody>
          <a:bodyPr>
            <a:normAutofit/>
          </a:bodyPr>
          <a:lstStyle/>
          <a:p>
            <a:pPr lv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由兩兩</a:t>
            </a:r>
            <a:r>
              <a:rPr lang="zh-TW" altLang="en-US" dirty="0"/>
              <a:t>分組改為四人小組，不習慣與組員對話</a:t>
            </a:r>
            <a:endParaRPr lang="en-US" altLang="zh-TW" dirty="0"/>
          </a:p>
          <a:p>
            <a:pPr lvl="0"/>
            <a:r>
              <a:rPr lang="zh-TW" altLang="en-US" dirty="0"/>
              <a:t>學習困難的學生不習慣開口尋求幫助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0"/>
            <a:r>
              <a:rPr lang="zh-TW" altLang="en-US" dirty="0"/>
              <a:t>學習優勢學生會變成強勢發言人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/>
              <a:t>學生無法專注聆聽同學的分享</a:t>
            </a:r>
            <a:endParaRPr lang="en-US" altLang="zh-TW" dirty="0"/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學生</a:t>
            </a:r>
            <a:r>
              <a:rPr lang="zh-TW" altLang="en-US" dirty="0"/>
              <a:t>熱於對話但偏離焦點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9874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41FD0-82E8-F324-63B6-A253381E2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71301A-7C01-206B-3CC3-3DF22D937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預測學生可能會遇到的困難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8BDE6D-5664-BA3B-2620-C525565C784C}"/>
              </a:ext>
            </a:extLst>
          </p:cNvPr>
          <p:cNvSpPr txBox="1"/>
          <p:nvPr/>
        </p:nvSpPr>
        <p:spPr>
          <a:xfrm>
            <a:off x="548640" y="1690688"/>
            <a:ext cx="108051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ea"/>
              <a:buAutoNum type="ea1ChtPlain"/>
            </a:pPr>
            <a:r>
              <a:rPr lang="zh-TW" altLang="en-US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「部分</a:t>
            </a:r>
            <a:r>
              <a:rPr lang="en-US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整體」關係混淆</a:t>
            </a:r>
            <a:endParaRPr lang="en-US" altLang="zh-TW" sz="2400" kern="100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2400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(</a:t>
            </a:r>
            <a:r>
              <a:rPr lang="zh-TW" altLang="en-US" sz="2400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400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理解題目真正要比的是「吃掉的片數和一盒片數的關係」。</a:t>
            </a:r>
            <a:endParaRPr lang="en-US" altLang="zh-TW" sz="2400" kern="100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2400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(</a:t>
            </a:r>
            <a:r>
              <a:rPr lang="zh-TW" altLang="en-US" sz="2400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400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困難點在於學生要判斷「整體到底是一盒（</a:t>
            </a:r>
            <a:r>
              <a:rPr lang="en-US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片）還是兩盒（</a:t>
            </a:r>
            <a:r>
              <a:rPr lang="en-US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80</a:t>
            </a:r>
            <a:r>
              <a:rPr lang="zh-TW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片）」。</a:t>
            </a:r>
            <a:endParaRPr lang="zh-TW" altLang="zh-TW" sz="24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just"/>
            <a:r>
              <a:rPr lang="zh-TW" altLang="en-US" sz="2400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二、數字混淆</a:t>
            </a:r>
            <a:endParaRPr lang="en-US" altLang="zh-TW" sz="2400" kern="100" dirty="0">
              <a:latin typeface="Calibri" panose="020F0502020204030204" pitchFamily="34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zh-TW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數字好多，容易混淆。題目裡有「</a:t>
            </a:r>
            <a:r>
              <a:rPr lang="en-US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40</a:t>
            </a:r>
            <a:r>
              <a:rPr lang="zh-TW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片、一盒」、「</a:t>
            </a:r>
            <a:r>
              <a:rPr lang="en-US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盒」、「</a:t>
            </a:r>
            <a:r>
              <a:rPr lang="en-US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r>
            <a:r>
              <a:rPr lang="zh-TW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片」，可能會搞不清楚到底要用哪個數字來算。</a:t>
            </a:r>
            <a:endParaRPr lang="zh-TW" altLang="zh-TW" sz="24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just"/>
            <a:r>
              <a:rPr lang="zh-TW" altLang="en-US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三、單位混淆</a:t>
            </a:r>
            <a:endParaRPr lang="en-US" altLang="zh-TW" sz="2400" kern="100" dirty="0">
              <a:effectLst/>
              <a:latin typeface="Calibri" panose="020F0502020204030204" pitchFamily="34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2400" kern="1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zh-TW" altLang="zh-TW" sz="24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核心問題要將單位「片」換算成「盒」，可是學生可能直接算片數，忘記轉換單位。</a:t>
            </a:r>
            <a:endParaRPr lang="zh-TW" altLang="zh-TW" sz="24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999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1215-28C3-A7EF-734A-DC0AB40A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473E56-DAE8-C690-31D1-3DA412457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預測學生可能會遇到的困難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68A9BC-3DD3-6637-9431-AEEA129D3856}"/>
              </a:ext>
            </a:extLst>
          </p:cNvPr>
          <p:cNvSpPr txBox="1"/>
          <p:nvPr/>
        </p:nvSpPr>
        <p:spPr>
          <a:xfrm>
            <a:off x="484632" y="1547979"/>
            <a:ext cx="1086916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TW" altLang="en-US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四、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單位的界定與理解不清</a:t>
            </a:r>
            <a:endParaRPr lang="en-US" altLang="zh-TW" sz="20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2000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</a:t>
            </a:r>
            <a:r>
              <a:rPr lang="en-US" altLang="zh-TW" sz="2000" kern="100" dirty="0">
                <a:effectLst/>
                <a:latin typeface="標楷體" panose="03000509000000000000" pitchFamily="65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在離散量情境（例如一盒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12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顆雞蛋、一袋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15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顆糖果）中，學生需要先確認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**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「整體」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b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或「單位一」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**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是什麼。</a:t>
            </a:r>
            <a:endParaRPr lang="en-US" altLang="zh-TW" sz="20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2000" kern="100" dirty="0"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</a:t>
            </a:r>
            <a:r>
              <a:rPr lang="en-US" altLang="zh-TW" sz="2000" kern="100" dirty="0">
                <a:effectLst/>
                <a:latin typeface="標楷體" panose="03000509000000000000" pitchFamily="65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困難點：學生可能無法清楚地將整組離散的物件視為一個整體，導致他們在劃分單位</a:t>
            </a:r>
            <a:b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分量時感到困惑。</a:t>
            </a:r>
            <a:endParaRPr lang="en-US" altLang="zh-TW" sz="2000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</a:t>
            </a:r>
            <a:r>
              <a:rPr lang="en-US" altLang="zh-TW" sz="2000" kern="100" dirty="0">
                <a:effectLst/>
                <a:latin typeface="標楷體" panose="03000509000000000000" pitchFamily="65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例子： 如果一組是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12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個蘋果，要算出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1/4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是多少，學生可能不知道要將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12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視為「整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b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體」並將其平均分成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4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份。</a:t>
            </a:r>
            <a:endParaRPr lang="en-US" altLang="zh-TW" sz="2000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just"/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五、單位分量與個數的混淆</a:t>
            </a:r>
            <a:endParaRPr lang="en-US" altLang="zh-TW" sz="2000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</a:t>
            </a:r>
            <a:r>
              <a:rPr lang="en-US" altLang="zh-TW" sz="2000" kern="100" dirty="0">
                <a:effectLst/>
                <a:latin typeface="標楷體" panose="03000509000000000000" pitchFamily="65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單位分量代表的是將整體平均分成 份後的其中一份。在離散量中，這一份通常包含多</a:t>
            </a:r>
            <a:b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個獨立的個體。</a:t>
            </a:r>
            <a:endParaRPr lang="en-US" altLang="zh-TW" sz="2000" kern="100" dirty="0"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just"/>
            <a:r>
              <a:rPr lang="en-US" altLang="zh-TW" sz="20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   </a:t>
            </a:r>
            <a:r>
              <a:rPr lang="en-US" altLang="zh-TW" sz="2000" kern="100" dirty="0">
                <a:effectLst/>
                <a:latin typeface="標楷體" panose="03000509000000000000" pitchFamily="65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困難點：學生可能會將分數的分母直接當作數量的個數，或認為單位分量代表的應該</a:t>
            </a:r>
            <a:b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</a:t>
            </a:r>
            <a:r>
              <a:rPr lang="zh-TW" altLang="zh-TW" sz="20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是單一個體。</a:t>
            </a:r>
            <a:endParaRPr lang="zh-TW" altLang="zh-TW" sz="20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000" kern="100" dirty="0">
                <a:effectLst/>
                <a:latin typeface="標楷體" panose="03000509000000000000" pitchFamily="65" charset="-120"/>
                <a:cs typeface="Times New Roman" panose="02020603050405020304" pitchFamily="18" charset="0"/>
              </a:rPr>
              <a:t>  (</a:t>
            </a:r>
            <a:r>
              <a:rPr lang="zh-TW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例子：在</a:t>
            </a:r>
            <a:r>
              <a:rPr lang="en-US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9 </a:t>
            </a:r>
            <a:r>
              <a:rPr lang="zh-TW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顆草莓的整體中，</a:t>
            </a:r>
            <a:r>
              <a:rPr lang="en-US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1/3</a:t>
            </a:r>
            <a:r>
              <a:rPr lang="zh-TW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應該是</a:t>
            </a:r>
            <a:r>
              <a:rPr lang="en-US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3 </a:t>
            </a:r>
            <a:r>
              <a:rPr lang="zh-TW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顆草莓。學生可能只專注於</a:t>
            </a:r>
            <a:r>
              <a:rPr lang="en-US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1/3</a:t>
            </a:r>
            <a:r>
              <a:rPr lang="zh-TW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符號，而忽</a:t>
            </a:r>
            <a:br>
              <a:rPr lang="en-US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           </a:t>
            </a:r>
            <a:r>
              <a:rPr lang="zh-TW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略了它代表的是</a:t>
            </a:r>
            <a:r>
              <a:rPr lang="en-US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 3 </a:t>
            </a:r>
            <a:r>
              <a:rPr lang="zh-TW" altLang="zh-TW" sz="2000" kern="1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顆草莓這個「量」。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2846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C3C74-DBA5-9D10-7F51-D67487D9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89131254-17E6-4A34-BFDA-BDB0662A4F9E}"/>
              </a:ext>
            </a:extLst>
          </p:cNvPr>
          <p:cNvGrpSpPr/>
          <p:nvPr/>
        </p:nvGrpSpPr>
        <p:grpSpPr>
          <a:xfrm>
            <a:off x="199474" y="90078"/>
            <a:ext cx="11793051" cy="3685861"/>
            <a:chOff x="199474" y="203093"/>
            <a:chExt cx="11793051" cy="3685861"/>
          </a:xfrm>
        </p:grpSpPr>
        <p:pic>
          <p:nvPicPr>
            <p:cNvPr id="4" name="圖片 3" descr="一張含有 文字, 食物, 點心 的圖片&#10;&#10;AI 產生的內容可能不正確。">
              <a:extLst>
                <a:ext uri="{FF2B5EF4-FFF2-40B4-BE49-F238E27FC236}">
                  <a16:creationId xmlns:a16="http://schemas.microsoft.com/office/drawing/2014/main" id="{6F6FEA69-B1D3-B265-C3E8-9AFADA1C2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474" y="203093"/>
              <a:ext cx="11793051" cy="3685861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B6FCAEC-ECA2-EAFC-C23F-A4B9980C3092}"/>
                </a:ext>
              </a:extLst>
            </p:cNvPr>
            <p:cNvSpPr/>
            <p:nvPr/>
          </p:nvSpPr>
          <p:spPr>
            <a:xfrm>
              <a:off x="199474" y="308348"/>
              <a:ext cx="980501" cy="9805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DE15E2D-5ECF-20A4-D329-F2561FFC9DE0}"/>
                </a:ext>
              </a:extLst>
            </p:cNvPr>
            <p:cNvSpPr/>
            <p:nvPr/>
          </p:nvSpPr>
          <p:spPr>
            <a:xfrm>
              <a:off x="279956" y="1065522"/>
              <a:ext cx="593348" cy="9805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531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D7359-E097-BE88-CD78-DFFCF3C32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97A3EB71-85C3-0F47-6520-EDA10BDCCD1A}"/>
                  </a:ext>
                </a:extLst>
              </p:cNvPr>
              <p:cNvSpPr txBox="1"/>
              <p:nvPr/>
            </p:nvSpPr>
            <p:spPr>
              <a:xfrm>
                <a:off x="353711" y="822522"/>
                <a:ext cx="7711502" cy="27599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32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第一題</a:t>
                </a:r>
                <a:endParaRPr lang="en-US" altLang="zh-TW" sz="32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endParaRPr lang="en-US" altLang="zh-TW" sz="32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sz="32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2</a:t>
                </a:r>
                <a:r>
                  <a:rPr lang="zh-TW" altLang="en-US" sz="32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盒</a:t>
                </a:r>
                <a:r>
                  <a:rPr lang="zh-TW" altLang="zh-TW" sz="32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月餅</a:t>
                </a:r>
                <a:r>
                  <a:rPr lang="zh-TW" altLang="en-US" sz="32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有</a:t>
                </a:r>
                <a:r>
                  <a:rPr lang="en-US" altLang="zh-TW" sz="32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24</a:t>
                </a:r>
                <a:r>
                  <a:rPr lang="zh-TW" altLang="en-US" sz="32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個月餅，請問</a:t>
                </a:r>
                <a:endParaRPr lang="en-US" altLang="zh-TW" sz="32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zh-TW" sz="3200" dirty="0">
                    <a:latin typeface="標楷體" panose="03000509000000000000" pitchFamily="65" charset="-120"/>
                    <a:ea typeface="標楷體" panose="03000509000000000000" pitchFamily="65" charset="-120"/>
                    <a:sym typeface="Wingdings" panose="05000000000000000000" pitchFamily="2" charset="2"/>
                  </a:rPr>
                  <a:t>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zh-TW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32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TW" altLang="en-US" sz="32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盒月餅是幾個月餅？</a:t>
                </a:r>
                <a:endParaRPr lang="en-US" altLang="zh-TW" sz="32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zh-TW" sz="3200" dirty="0">
                    <a:latin typeface="標楷體" panose="03000509000000000000" pitchFamily="65" charset="-120"/>
                    <a:ea typeface="標楷體" panose="03000509000000000000" pitchFamily="65" charset="-120"/>
                    <a:sym typeface="Wingdings" panose="05000000000000000000" pitchFamily="2" charset="2"/>
                  </a:rPr>
                  <a:t></a:t>
                </a:r>
                <a:r>
                  <a:rPr lang="en-US" altLang="zh-TW" sz="3200" dirty="0">
                    <a:latin typeface="標楷體" panose="03000509000000000000" pitchFamily="65" charset="-120"/>
                    <a:ea typeface="標楷體" panose="03000509000000000000" pitchFamily="65" charset="-120"/>
                    <a:sym typeface="Wingdings" panose="05000000000000000000" pitchFamily="2" charset="2"/>
                  </a:rPr>
                  <a:t>9</a:t>
                </a:r>
                <a:r>
                  <a:rPr lang="zh-TW" altLang="en-US" sz="3200" dirty="0">
                    <a:latin typeface="標楷體" panose="03000509000000000000" pitchFamily="65" charset="-120"/>
                    <a:ea typeface="標楷體" panose="03000509000000000000" pitchFamily="65" charset="-120"/>
                    <a:sym typeface="Wingdings" panose="05000000000000000000" pitchFamily="2" charset="2"/>
                  </a:rPr>
                  <a:t>個月餅是多少盒月餅？</a:t>
                </a:r>
                <a:r>
                  <a:rPr lang="en-US" altLang="zh-TW" sz="3200" dirty="0">
                    <a:latin typeface="標楷體" panose="03000509000000000000" pitchFamily="65" charset="-120"/>
                    <a:ea typeface="標楷體" panose="03000509000000000000" pitchFamily="65" charset="-120"/>
                    <a:sym typeface="Wingdings" panose="05000000000000000000" pitchFamily="2" charset="2"/>
                  </a:rPr>
                  <a:t>(</a:t>
                </a:r>
                <a:r>
                  <a:rPr lang="zh-TW" altLang="en-US" sz="3200" dirty="0">
                    <a:latin typeface="標楷體" panose="03000509000000000000" pitchFamily="65" charset="-120"/>
                    <a:ea typeface="標楷體" panose="03000509000000000000" pitchFamily="65" charset="-120"/>
                    <a:sym typeface="Wingdings" panose="05000000000000000000" pitchFamily="2" charset="2"/>
                  </a:rPr>
                  <a:t>用分數表示</a:t>
                </a:r>
                <a:r>
                  <a:rPr lang="en-US" altLang="zh-TW" sz="3200" dirty="0">
                    <a:latin typeface="標楷體" panose="03000509000000000000" pitchFamily="65" charset="-120"/>
                    <a:ea typeface="標楷體" panose="03000509000000000000" pitchFamily="65" charset="-120"/>
                    <a:sym typeface="Wingdings" panose="05000000000000000000" pitchFamily="2" charset="2"/>
                  </a:rPr>
                  <a:t>)</a:t>
                </a:r>
                <a:endParaRPr lang="en-US" altLang="zh-TW" sz="32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97A3EB71-85C3-0F47-6520-EDA10BDCC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11" y="822522"/>
                <a:ext cx="7711502" cy="2759986"/>
              </a:xfrm>
              <a:prstGeom prst="rect">
                <a:avLst/>
              </a:prstGeom>
              <a:blipFill>
                <a:blip r:embed="rId2"/>
                <a:stretch>
                  <a:fillRect l="-1976" t="-2870" b="-64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圖片 25" descr="一張含有 文字, 食物, 點心 的圖片&#10;&#10;AI 產生的內容可能不正確。">
            <a:extLst>
              <a:ext uri="{FF2B5EF4-FFF2-40B4-BE49-F238E27FC236}">
                <a16:creationId xmlns:a16="http://schemas.microsoft.com/office/drawing/2014/main" id="{349237A2-443E-A52D-F4E2-D2FAD19F8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074" t="14057" r="3318"/>
          <a:stretch>
            <a:fillRect/>
          </a:stretch>
        </p:blipFill>
        <p:spPr>
          <a:xfrm>
            <a:off x="7657888" y="449417"/>
            <a:ext cx="4081395" cy="3167751"/>
          </a:xfrm>
          <a:prstGeom prst="rect">
            <a:avLst/>
          </a:prstGeom>
        </p:spPr>
      </p:pic>
      <p:pic>
        <p:nvPicPr>
          <p:cNvPr id="3" name="圖片 2" descr="一張含有 文字, 食物, 點心 的圖片&#10;&#10;AI 產生的內容可能不正確。">
            <a:extLst>
              <a:ext uri="{FF2B5EF4-FFF2-40B4-BE49-F238E27FC236}">
                <a16:creationId xmlns:a16="http://schemas.microsoft.com/office/drawing/2014/main" id="{CB1096E1-E531-676F-AC58-286B00B668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074" t="14057" r="3318"/>
          <a:stretch>
            <a:fillRect/>
          </a:stretch>
        </p:blipFill>
        <p:spPr>
          <a:xfrm>
            <a:off x="7657888" y="3585354"/>
            <a:ext cx="4081395" cy="316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11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74957805-BF1B-8DDB-D218-0A7C43A0C6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6060"/>
          <a:stretch>
            <a:fillRect/>
          </a:stretch>
        </p:blipFill>
        <p:spPr>
          <a:xfrm>
            <a:off x="376025" y="1181292"/>
            <a:ext cx="11439950" cy="156190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E85F830-095B-AC58-6EAF-E8CE30354B9E}"/>
              </a:ext>
            </a:extLst>
          </p:cNvPr>
          <p:cNvSpPr txBox="1"/>
          <p:nvPr/>
        </p:nvSpPr>
        <p:spPr>
          <a:xfrm>
            <a:off x="376025" y="483153"/>
            <a:ext cx="1689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第二題</a:t>
            </a:r>
          </a:p>
        </p:txBody>
      </p:sp>
    </p:spTree>
    <p:extLst>
      <p:ext uri="{BB962C8B-B14F-4D97-AF65-F5344CB8AC3E}">
        <p14:creationId xmlns:p14="http://schemas.microsoft.com/office/powerpoint/2010/main" val="193805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99FB2C9-AF6C-D16E-1B81-7294C6A85305}"/>
              </a:ext>
            </a:extLst>
          </p:cNvPr>
          <p:cNvSpPr txBox="1"/>
          <p:nvPr/>
        </p:nvSpPr>
        <p:spPr>
          <a:xfrm>
            <a:off x="349700" y="1404443"/>
            <a:ext cx="11492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一瓶果汁有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公升，媽媽買了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瓶果汁。中秋節烤肉時用掉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公升果汁，請問等於用掉了多少瓶果汁？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089EF61-6505-2B80-4783-3665E700F4FF}"/>
              </a:ext>
            </a:extLst>
          </p:cNvPr>
          <p:cNvSpPr txBox="1"/>
          <p:nvPr/>
        </p:nvSpPr>
        <p:spPr>
          <a:xfrm>
            <a:off x="376025" y="483153"/>
            <a:ext cx="16890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第三題</a:t>
            </a:r>
          </a:p>
        </p:txBody>
      </p:sp>
    </p:spTree>
    <p:extLst>
      <p:ext uri="{BB962C8B-B14F-4D97-AF65-F5344CB8AC3E}">
        <p14:creationId xmlns:p14="http://schemas.microsoft.com/office/powerpoint/2010/main" val="343748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1154</Words>
  <Application>Microsoft Office PowerPoint</Application>
  <PresentationFormat>寬螢幕</PresentationFormat>
  <Paragraphs>103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標楷體</vt:lpstr>
      <vt:lpstr>Aptos</vt:lpstr>
      <vt:lpstr>Aptos Display</vt:lpstr>
      <vt:lpstr>Arial</vt:lpstr>
      <vt:lpstr>Calibri</vt:lpstr>
      <vt:lpstr>Cambria Math</vt:lpstr>
      <vt:lpstr>Office 佈景主題</vt:lpstr>
      <vt:lpstr>五年級數學公開課</vt:lpstr>
      <vt:lpstr>五年級數學公開課</vt:lpstr>
      <vt:lpstr>設計理念</vt:lpstr>
      <vt:lpstr>PowerPoint 簡報</vt:lpstr>
      <vt:lpstr>自我準備</vt:lpstr>
      <vt:lpstr>自我準備</vt:lpstr>
      <vt:lpstr>學習策略</vt:lpstr>
      <vt:lpstr>策略</vt:lpstr>
      <vt:lpstr>核心概念</vt:lpstr>
      <vt:lpstr>班級概況</vt:lpstr>
      <vt:lpstr>預測學生學習行為</vt:lpstr>
      <vt:lpstr>預測學生可能會遇到的困難</vt:lpstr>
      <vt:lpstr>預測學生可能會遇到的困難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楊景元</dc:creator>
  <cp:lastModifiedBy>楊景元</cp:lastModifiedBy>
  <cp:revision>12</cp:revision>
  <dcterms:created xsi:type="dcterms:W3CDTF">2025-10-01T13:29:19Z</dcterms:created>
  <dcterms:modified xsi:type="dcterms:W3CDTF">2025-10-13T05:10:01Z</dcterms:modified>
</cp:coreProperties>
</file>