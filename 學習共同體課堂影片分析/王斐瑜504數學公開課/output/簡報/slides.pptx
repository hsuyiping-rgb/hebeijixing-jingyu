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455" autoAdjust="0"/>
  </p:normalViewPr>
  <p:slideViewPr>
    <p:cSldViewPr snapToGrid="0" snapToObjects="1">
      <p:cViewPr>
        <p:scale>
          <a:sx n="75" d="100"/>
          <a:sy n="75" d="100"/>
        </p:scale>
        <p:origin x="946" y="-2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段落數</c:v>
                </c:pt>
              </c:strCache>
            </c:strRef>
          </c:tx>
          <c:spPr>
            <a:solidFill>
              <a:srgbClr val="7A9A6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23412D"/>
                    </a:solidFill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轉問</c:v>
                </c:pt>
                <c:pt idx="1">
                  <c:v>提示</c:v>
                </c:pt>
                <c:pt idx="2">
                  <c:v>深究</c:v>
                </c:pt>
                <c:pt idx="3">
                  <c:v>轉引</c:v>
                </c:pt>
                <c:pt idx="4">
                  <c:v>釐清</c:v>
                </c:pt>
                <c:pt idx="5">
                  <c:v>反問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029-467B-B376-5AD5525651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9C7B4"/>
            </a:solidFill>
          </a:ln>
        </c:spPr>
        <c:txPr>
          <a:bodyPr/>
          <a:lstStyle/>
          <a:p>
            <a:pPr>
              <a:defRPr sz="1600">
                <a:solidFill>
                  <a:srgbClr val="2C332D"/>
                </a:solidFill>
                <a:latin typeface="Microsoft JhengHei"/>
              </a:defRPr>
            </a:pPr>
            <a:endParaRPr lang="zh-TW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B3BD6-D2B7-4A9C-BB4D-DBC7721BEB48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E525D-54E7-42F7-AE3D-41297ACBE6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7969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描述：課堂一開始，老師請學生翻回課本六十八、六十九頁，回顧前一天用正方體與淡藍色柱體附件檢查面與面的關係，接著拋出今天的問題：「教室內，哪一個面跟哪一個面是垂直的？」並提醒「昨天我們有沒有拿東西檢查？」學生回答「沒有」，老師說：「所以先給你一個工具喔。」</a:t>
            </a:r>
          </a:p>
          <a:p>
            <a:endParaRPr/>
          </a:p>
          <a:p>
            <a:r>
              <a:t>詮釋：課本 p.67 的練習只寫著「找找看，教室中有哪些面是互相垂直的」，老師把它從紙上作答轉成「拿工具到真實空間去驗證」的任務。學生前一天只是「說」，今天要「檢查」，數學從口頭判斷走向可被他人檢驗的證據。</a:t>
            </a:r>
          </a:p>
          <a:p>
            <a:endParaRPr/>
          </a:p>
          <a:p>
            <a:r>
              <a:t>理答：【反問】「昨天我們有沒有拿東西檢查？」——前一天已有學生站起來說出哪些面垂直，老師沒有評斷那些說法對不對，而是把「有沒有證據」丟回給全班判斷。【提示】「所以先給你一個工具喔」為學生提供了新的檢查方法。開場「看回你的課本六十九頁」則是把學生帶回文本。</a:t>
            </a:r>
          </a:p>
          <a:p>
            <a:endParaRPr/>
          </a:p>
          <a:p>
            <a:r>
              <a:t>反思：「說得出來」與「檢查得出來」之間，學生的理解有什麼不同？教師用的那句「昨天有沒有拿東西檢查」，讓全班重新看見自己前一天的判斷其實缺了什麼。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描述：老師說明「要用長方體的箱子來檢查，檢查平行或檢查垂直都可以」，先把箱子放在教室的椅子邊示範，問「請問這裡有垂直嗎？」學生答「有」。接著把箱子交給學生：「你試看看，你放下去，看你要放哪裡。地板、櫃子，哪裡都可以。」並提醒「看不到，站起來看，先走過來看。」畫面中學生離開座位、圍到同學桌邊觀看。</a:t>
            </a:r>
          </a:p>
          <a:p>
            <a:endParaRPr/>
          </a:p>
          <a:p>
            <a:r>
              <a:t>詮釋：課本「親師交流」寫明國小不證明面的垂直，而是「由長方體去認識空間中面與面的垂直，並以此為檢查工具」。老師讓長方體從「被觀察的對象」變成「拿來量別的東西的工具」，學生要把箱子的兩個相鄰面與兩個平面「完全密合」，判斷才算成立。</a:t>
            </a:r>
          </a:p>
          <a:p>
            <a:endParaRPr/>
          </a:p>
          <a:p>
            <a:r>
              <a:t>理答：【提示】老師的示範（把箱子靠在椅子邊，問「請問這裡有垂直嗎？」）提供了「怎麼檢查」的新資訊；「你試看看，你放下去，看你要放哪裡」之後，選擇檢查點的權利交還給學生。這一段的理答以提示為主，為後續學生自己說出檢查點鋪路。</a:t>
            </a:r>
          </a:p>
          <a:p>
            <a:endParaRPr/>
          </a:p>
          <a:p>
            <a:r>
              <a:t>反思：「看不到就走過來看」把觀看的權利交還給每一個學生；當全班都圍到同一張桌邊，學生是在看「操作者」，還是在看「兩個面有沒有密合」？聚焦的對象會影響學生帶走什麼。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描述：第一位示範的學生把箱子放在桌角旁，台下說出「桌子」。第二位學生想檢查「地板跟講台的垂直面」，老師複述後問「有垂直嗎？」全班答「有」，老師接著說「還有沒有？這兩個都很不一樣」。第三位學生走到窗邊，一度不確定那叫什麼，同學想幫忙，老師說「同學讓他說出來」；老師轉述：「他想檢查窗戶，但是他靠的是窗台，（還是）窗框？」（推定）</a:t>
            </a:r>
          </a:p>
          <a:p>
            <a:endParaRPr/>
          </a:p>
          <a:p>
            <a:r>
              <a:t>詮釋：學生選擇的檢查點從身邊的桌面，擴展到講台、窗框，教室空間成為數學的素材。窗框一段特別有意思：學生知道要檢查的「面」在哪裡，卻還沒有適切的名詞——老師沒有替這位學生說出答案，而是保留他自己說的時間。</a:t>
            </a:r>
          </a:p>
          <a:p>
            <a:endParaRPr/>
          </a:p>
          <a:p>
            <a:r>
              <a:t>理答：【轉引】「還有沒有？這兩個都很不一樣。」老師不處理前一位的內容對錯，而是把發言權交出去、收集更多不同的檢查點，屬高原策略；「很不一樣」是描述差異，不是對錯評價。【評價語】「有，很好」中的「很好」為評價語。【等待】「同學讓他說出來」擋下了同伴的代答，把說的時間留給原發言者。【提示＋深究】老師轉述「他靠的是窗台，（還是）窗框？」——給出兩個候選詞是提示，要學生指認「到底是哪一個面」則是要更具體的內容，屬深究。</a:t>
            </a:r>
          </a:p>
          <a:p>
            <a:endParaRPr/>
          </a:p>
          <a:p>
            <a:r>
              <a:t>反思：當學生找不到詞語時，那段停頓是語言跟上空間概念的過程。「同學讓他說出來」守住的是誰的言談權？台下想幫忙的同學，又在那一刻學到了什麼？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描述：在學生示範的空檔，老師停下來對全班說</a:t>
            </a:r>
            <a:r>
              <a:rPr dirty="0"/>
              <a:t>：「</a:t>
            </a:r>
            <a:r>
              <a:rPr dirty="0" err="1"/>
              <a:t>同學，我們基本的尊重，要看說話的人，要聽。你在聽人家講話，你的眼睛會自然怎樣</a:t>
            </a:r>
            <a:r>
              <a:rPr dirty="0"/>
              <a:t>？」</a:t>
            </a:r>
            <a:r>
              <a:rPr dirty="0" err="1"/>
              <a:t>學生回答「看他</a:t>
            </a:r>
            <a:r>
              <a:rPr dirty="0"/>
              <a:t>」。</a:t>
            </a:r>
            <a:r>
              <a:rPr dirty="0" err="1"/>
              <a:t>之後老師在課堂中反覆以「看著說話的人」提醒全班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詮釋：老師把傾聽具體化為「眼睛朝向說話者」這個可觀察的身體姿態，也把它定位為「尊重」而不是紀律。從畫面看，學生在小組討論與上台發表時，確實常出現轉身、站起來、圍過去的動作。</a:t>
            </a:r>
          </a:p>
          <a:p>
            <a:endParaRPr dirty="0"/>
          </a:p>
          <a:p>
            <a:r>
              <a:rPr dirty="0" err="1"/>
              <a:t>理答：這一段不屬於六策略中的任何一種，而是建立理答的前提</a:t>
            </a:r>
            <a:r>
              <a:rPr dirty="0"/>
              <a:t>：「</a:t>
            </a:r>
            <a:r>
              <a:rPr dirty="0" err="1"/>
              <a:t>你在聽人家講話，你的眼睛會自然怎樣</a:t>
            </a:r>
            <a:r>
              <a:rPr dirty="0"/>
              <a:t>？」</a:t>
            </a:r>
            <a:r>
              <a:rPr dirty="0" err="1"/>
              <a:t>把聽者的身體朝向說話者。轉問與轉引要能成立，前提是台下真的聽到了前一人說了什麼</a:t>
            </a:r>
            <a:r>
              <a:rPr dirty="0"/>
              <a:t>——</a:t>
            </a:r>
            <a:r>
              <a:rPr dirty="0" err="1"/>
              <a:t>這句話正是在為之後的轉問準備聽者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反思</a:t>
            </a:r>
            <a:r>
              <a:rPr dirty="0"/>
              <a:t>：「</a:t>
            </a:r>
            <a:r>
              <a:rPr dirty="0" err="1"/>
              <a:t>看著說話的人」是傾聽的入口，但眼睛朝向說話者之後，學生的心是否也朝向了對方的想法？我們可以從哪些跡象分辨「看著」與「聽進去</a:t>
            </a:r>
            <a:r>
              <a:rPr dirty="0"/>
              <a:t>」？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描述：一位學生說明自己檢查的是「地板跟牆壁</a:t>
            </a:r>
            <a:r>
              <a:rPr dirty="0"/>
              <a:t>」，</a:t>
            </a:r>
            <a:r>
              <a:rPr dirty="0" err="1"/>
              <a:t>老師請這位學生再說一次，問全班「正確嗎</a:t>
            </a:r>
            <a:r>
              <a:rPr dirty="0"/>
              <a:t>？」</a:t>
            </a:r>
            <a:r>
              <a:rPr dirty="0" err="1"/>
              <a:t>後回應「很正確喔</a:t>
            </a:r>
            <a:r>
              <a:rPr dirty="0"/>
              <a:t>」。</a:t>
            </a:r>
            <a:r>
              <a:rPr dirty="0" err="1"/>
              <a:t>接著老師把焦點轉向這位學生說話的樣子</a:t>
            </a:r>
            <a:r>
              <a:rPr dirty="0"/>
              <a:t>：「</a:t>
            </a:r>
            <a:r>
              <a:rPr dirty="0" err="1"/>
              <a:t>他講話是不是</a:t>
            </a:r>
            <a:r>
              <a:rPr dirty="0"/>
              <a:t>……</a:t>
            </a:r>
            <a:r>
              <a:rPr dirty="0" err="1"/>
              <a:t>也看著我們？我們講話是不是看著我們要講話的對象？很好喔，你整個肢體語言都這樣好</a:t>
            </a:r>
            <a:r>
              <a:rPr dirty="0"/>
              <a:t>。」</a:t>
            </a:r>
          </a:p>
          <a:p>
            <a:endParaRPr dirty="0"/>
          </a:p>
          <a:p>
            <a:r>
              <a:rPr dirty="0" err="1"/>
              <a:t>詮釋：老師在同一段回應中處理了兩件事：數學判斷（地板與牆壁互相垂直）與溝通姿態（說話者也要看著聽者</a:t>
            </a:r>
            <a:r>
              <a:rPr dirty="0"/>
              <a:t>）。</a:t>
            </a:r>
            <a:r>
              <a:rPr dirty="0" err="1"/>
              <a:t>傾聽在這裡被描述成雙向的</a:t>
            </a:r>
            <a:r>
              <a:rPr dirty="0"/>
              <a:t>——</a:t>
            </a:r>
            <a:r>
              <a:rPr dirty="0" err="1"/>
              <a:t>說的人朝向聽的人，聽的人朝向說的人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理答</a:t>
            </a:r>
            <a:r>
              <a:rPr dirty="0"/>
              <a:t>：【</a:t>
            </a:r>
            <a:r>
              <a:rPr dirty="0" err="1"/>
              <a:t>釐清</a:t>
            </a:r>
            <a:r>
              <a:rPr dirty="0"/>
              <a:t>】「</a:t>
            </a:r>
            <a:r>
              <a:rPr dirty="0" err="1"/>
              <a:t>再一次」要的是同一份內容的再一次表達（地板跟牆壁</a:t>
            </a:r>
            <a:r>
              <a:rPr dirty="0"/>
              <a:t>）。【</a:t>
            </a:r>
            <a:r>
              <a:rPr dirty="0" err="1"/>
              <a:t>轉問</a:t>
            </a:r>
            <a:r>
              <a:rPr dirty="0"/>
              <a:t>】「</a:t>
            </a:r>
            <a:r>
              <a:rPr dirty="0" err="1"/>
              <a:t>正確嗎</a:t>
            </a:r>
            <a:r>
              <a:rPr dirty="0"/>
              <a:t>？」</a:t>
            </a:r>
            <a:r>
              <a:rPr dirty="0" err="1"/>
              <a:t>把這位學生的說法交給全班判斷</a:t>
            </a:r>
            <a:r>
              <a:rPr dirty="0"/>
              <a:t>。【評價語】緊接的「很正確喔」由老師給出結論，使轉問在全班回應之前就收束。之後關於「看著我們要講話的對象」的回饋，對象是說話方式，不是數學內容。</a:t>
            </a:r>
          </a:p>
          <a:p>
            <a:endParaRPr dirty="0"/>
          </a:p>
          <a:p>
            <a:r>
              <a:rPr dirty="0" err="1"/>
              <a:t>反思：當「正確嗎？很正確喔」先出現時，其他學生還有沒有理由繼續想「為什麼正確</a:t>
            </a:r>
            <a:r>
              <a:rPr dirty="0"/>
              <a:t>」？</a:t>
            </a:r>
            <a:r>
              <a:rPr dirty="0" err="1"/>
              <a:t>老師緊接著的肢體語言回饋，讓這段發言的價值不只停在答案，這個轉向值得放在議課裡一起細看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描述：老師請學生完成課本的練習並在寫好後彼此交流</a:t>
            </a:r>
            <a:r>
              <a:rPr dirty="0"/>
              <a:t>：「</a:t>
            </a:r>
            <a:r>
              <a:rPr dirty="0" err="1"/>
              <a:t>寫好的可以交流一下你們寫的有沒有一樣。從昨天到剛剛早自習十分鐘，我們在講的概念：平行、垂直</a:t>
            </a:r>
            <a:r>
              <a:rPr dirty="0"/>
              <a:t>。」</a:t>
            </a:r>
            <a:r>
              <a:rPr dirty="0" err="1"/>
              <a:t>之後有學生上台寫答案，全班一起核對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詮釋：這一段把前一天的操作、早自習的複習與課本練習串成一條線。學生在空間中用箱子檢查之後，再回到課本</a:t>
            </a:r>
            <a:r>
              <a:rPr dirty="0"/>
              <a:t> p.69「面 ABCD </a:t>
            </a:r>
            <a:r>
              <a:rPr dirty="0" err="1"/>
              <a:t>和面</a:t>
            </a:r>
            <a:r>
              <a:rPr dirty="0"/>
              <a:t> EFGH </a:t>
            </a:r>
            <a:r>
              <a:rPr dirty="0" err="1"/>
              <a:t>互相平行或互相垂直」這種以符號命名的紙上判斷，經驗與表徵之間有一次往返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理答</a:t>
            </a:r>
            <a:r>
              <a:rPr dirty="0"/>
              <a:t>：【</a:t>
            </a:r>
            <a:r>
              <a:rPr dirty="0" err="1"/>
              <a:t>轉問</a:t>
            </a:r>
            <a:r>
              <a:rPr dirty="0"/>
              <a:t>】「</a:t>
            </a:r>
            <a:r>
              <a:rPr dirty="0" err="1"/>
              <a:t>寫好的可以交流一下你們寫的有沒有一樣」把各自的答案交給同伴比較，屬於學生之間的轉問</a:t>
            </a:r>
            <a:r>
              <a:rPr dirty="0"/>
              <a:t>；【</a:t>
            </a:r>
            <a:r>
              <a:rPr dirty="0" err="1"/>
              <a:t>回到文本】回到課本練習，將教室實物檢查的經驗對照到以字母命名的面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反思：從教室實物回到紙上的長方體圖，學生需要在腦中把「看得見的面」轉成「用字母命名的面</a:t>
            </a:r>
            <a:r>
              <a:rPr dirty="0"/>
              <a:t>」。</a:t>
            </a:r>
            <a:r>
              <a:rPr dirty="0" err="1"/>
              <a:t>這一步對誰比較吃力？習作上寫不出來的學生，剛才在教室裡是怎麼檢查的</a:t>
            </a:r>
            <a:r>
              <a:rPr dirty="0"/>
              <a:t>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描述：進入課本七十頁。老師請兩人一組把附件做成的形體分類</a:t>
            </a:r>
            <a:r>
              <a:rPr dirty="0"/>
              <a:t>：「</a:t>
            </a:r>
            <a:r>
              <a:rPr dirty="0" err="1"/>
              <a:t>現在沒有一定，大家不一定一樣，就是兩個人討論。你想要怎麼分類，就把你想分的放一堆</a:t>
            </a:r>
            <a:r>
              <a:rPr dirty="0"/>
              <a:t>。」</a:t>
            </a:r>
            <a:r>
              <a:rPr dirty="0" err="1"/>
              <a:t>並預告</a:t>
            </a:r>
            <a:r>
              <a:rPr dirty="0"/>
              <a:t>：「</a:t>
            </a:r>
            <a:r>
              <a:rPr dirty="0" err="1"/>
              <a:t>我們等一下就問：你分類的依據、你分類的標準是什麼</a:t>
            </a:r>
            <a:r>
              <a:rPr dirty="0"/>
              <a:t>。」</a:t>
            </a:r>
            <a:r>
              <a:rPr dirty="0" err="1"/>
              <a:t>最後提醒「兩個人一起用</a:t>
            </a:r>
            <a:r>
              <a:rPr dirty="0"/>
              <a:t>」「</a:t>
            </a:r>
            <a:r>
              <a:rPr dirty="0" err="1"/>
              <a:t>兩個人去協調</a:t>
            </a:r>
            <a:r>
              <a:rPr dirty="0"/>
              <a:t>」。</a:t>
            </a:r>
          </a:p>
          <a:p>
            <a:endParaRPr dirty="0"/>
          </a:p>
          <a:p>
            <a:r>
              <a:rPr dirty="0" err="1"/>
              <a:t>詮釋：課本示範的是「像柱子的分一堆、頂端尖尖的分一堆</a:t>
            </a:r>
            <a:r>
              <a:rPr dirty="0"/>
              <a:t>」，但老師沒有先給這個答案，而是讓分類的標準由學生自己決定，並把「依據」設為之後全班要回答的核心問題。這是一個開放的探究任務：結果可以不同，但每一種分法都要說得出理由。</a:t>
            </a:r>
          </a:p>
          <a:p>
            <a:endParaRPr dirty="0"/>
          </a:p>
          <a:p>
            <a:r>
              <a:rPr dirty="0" err="1"/>
              <a:t>理答</a:t>
            </a:r>
            <a:r>
              <a:rPr dirty="0"/>
              <a:t>：【</a:t>
            </a:r>
            <a:r>
              <a:rPr dirty="0" err="1"/>
              <a:t>深究（預告</a:t>
            </a:r>
            <a:r>
              <a:rPr dirty="0"/>
              <a:t>）】「</a:t>
            </a:r>
            <a:r>
              <a:rPr dirty="0" err="1"/>
              <a:t>我們等一下就問：你分類的依據、你分類的標準是什麼」在操作開始前就預告了深究的問題</a:t>
            </a:r>
            <a:r>
              <a:rPr dirty="0"/>
              <a:t>——</a:t>
            </a:r>
            <a:r>
              <a:rPr dirty="0" err="1"/>
              <a:t>之後要的不只是分法，而是分法背後「多出來的」理由</a:t>
            </a:r>
            <a:r>
              <a:rPr dirty="0"/>
              <a:t>。「</a:t>
            </a:r>
            <a:r>
              <a:rPr dirty="0" err="1"/>
              <a:t>現在沒有一定，大家不一定一樣」則為之後的轉引鋪好氣氛：不同的分法是被期待的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反思</a:t>
            </a:r>
            <a:r>
              <a:rPr dirty="0"/>
              <a:t>：「</a:t>
            </a:r>
            <a:r>
              <a:rPr dirty="0" err="1"/>
              <a:t>依據」這個詞在開始前就被說出來，學生在動手時是否已經在為「等一下要怎麼說」做準備？開放任務的品質，往往取決於這句預告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描述：桌上散放著學生自己做的紙形體：圓柱、三角柱、四角柱、角錐與圓錐。兩人一組移動形體分堆，有的組前後轉身互相看。老師巡視時提醒附件有缺的可以「前後轉頭這樣交流」，並說「已經好的，你們也可以看同一組別人的分類。你現在發現同學分的都不太一樣嗎？」老師多次詢問「還需要時間的舉手」，這段操作時間約六分鐘。</a:t>
            </a:r>
          </a:p>
          <a:p>
            <a:endParaRPr/>
          </a:p>
          <a:p>
            <a:r>
              <a:t>詮釋：老師沒有在第一組完成時就收回，而是以「還需要時間的舉手」讓學生決定節奏，給出較長的操作與協調時間。「同學分的都不太一樣」這句話，把差異變成可以期待的事，而不是錯誤。</a:t>
            </a:r>
          </a:p>
          <a:p>
            <a:endParaRPr/>
          </a:p>
          <a:p>
            <a:r>
              <a:t>理答：【深究】巡視時「他分出來的原因是什麼？」要學生說出分類的理由。【轉問】「你們也可以看同一組別人的分類。你現在發現同學分的都不太一樣嗎？」把別組的成果交給學生比較。【等待】反覆的「還需要時間的舉手」讓操作時間由學生的進度決定，是以行動表現的等待。</a:t>
            </a:r>
          </a:p>
          <a:p>
            <a:endParaRPr/>
          </a:p>
          <a:p>
            <a:r>
              <a:t>反思：兩人一組要「協調」出一種分法，意味著其中一人的想法可能被讓渡。被讓渡的那個想法去了哪裡？它有沒有機會在之後的全班發表中再被聽見？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描述：老師先請班長那一組說明分類原則，但在他們開口前，請全班「先走過來看一下，然後猜測，在心裡猜一下」。學生離開座位圍到該組桌邊看形體的分堆，再「稍微思考，回到位置」。</a:t>
            </a:r>
          </a:p>
          <a:p>
            <a:endParaRPr/>
          </a:p>
          <a:p>
            <a:r>
              <a:t>詮釋：在聽發表之前先看對方的分堆、並在心裡猜測其依據，讓聽者帶著自己的假設去聽。這使得之後的發表不是單向的報告，而是全班在核對「我猜的跟他說的一樣嗎」。</a:t>
            </a:r>
          </a:p>
          <a:p>
            <a:endParaRPr/>
          </a:p>
          <a:p>
            <a:r>
              <a:t>理答：【轉問】「先走過來看一下，然後猜測，在心裡猜一下」——老師把班長那組的分類成果（而非口頭發言）先交給全班解讀，請聽者先形成自己的假設，再聽發表者說明；【等待】「在心裡」的指示保留了不出聲的思考時間。</a:t>
            </a:r>
          </a:p>
          <a:p>
            <a:endParaRPr/>
          </a:p>
          <a:p>
            <a:r>
              <a:t>反思：「在心裡猜一下」為聽者準備了一個位置。猜錯的學生在聽到真正的依據時，和沒有猜過的學生相比，經驗會有什麼不同？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描述：老師把各組的分類寫上黑板。從</a:t>
            </a:r>
            <a:r>
              <a:rPr dirty="0"/>
              <a:t> 31:45 </a:t>
            </a:r>
            <a:r>
              <a:rPr dirty="0" err="1"/>
              <a:t>的黑板可辨識出四種分法</a:t>
            </a:r>
            <a:r>
              <a:rPr dirty="0"/>
              <a:t>：①</a:t>
            </a:r>
            <a:r>
              <a:rPr dirty="0" err="1"/>
              <a:t>柱體／錐體</a:t>
            </a:r>
            <a:r>
              <a:rPr dirty="0"/>
              <a:t> ②</a:t>
            </a:r>
            <a:r>
              <a:rPr dirty="0" err="1"/>
              <a:t>圓柱體／角柱體（推定</a:t>
            </a:r>
            <a:r>
              <a:rPr dirty="0"/>
              <a:t>）／</a:t>
            </a:r>
            <a:r>
              <a:rPr dirty="0" err="1"/>
              <a:t>錐體</a:t>
            </a:r>
            <a:r>
              <a:rPr dirty="0"/>
              <a:t> ③</a:t>
            </a:r>
            <a:r>
              <a:rPr dirty="0" err="1"/>
              <a:t>錐體／圓柱體／長方體等</a:t>
            </a:r>
            <a:r>
              <a:rPr dirty="0"/>
              <a:t> ④</a:t>
            </a:r>
            <a:r>
              <a:rPr dirty="0" err="1"/>
              <a:t>三角形／四邊形／五邊形／六邊形／圓形。老師在現場比較</a:t>
            </a:r>
            <a:r>
              <a:rPr dirty="0"/>
              <a:t>：「</a:t>
            </a:r>
            <a:r>
              <a:rPr dirty="0" err="1"/>
              <a:t>他們分兩堆</a:t>
            </a:r>
            <a:r>
              <a:rPr dirty="0"/>
              <a:t>……</a:t>
            </a:r>
            <a:r>
              <a:rPr dirty="0" err="1"/>
              <a:t>他們分三堆</a:t>
            </a:r>
            <a:r>
              <a:rPr dirty="0"/>
              <a:t>」「</a:t>
            </a:r>
            <a:r>
              <a:rPr dirty="0" err="1"/>
              <a:t>他們分幾類？五類</a:t>
            </a:r>
            <a:r>
              <a:rPr dirty="0"/>
              <a:t>」，</a:t>
            </a:r>
            <a:r>
              <a:rPr dirty="0" err="1"/>
              <a:t>並問全班「你有沒有發現現在黑板呈現什麼</a:t>
            </a:r>
            <a:r>
              <a:rPr dirty="0"/>
              <a:t>？」</a:t>
            </a:r>
            <a:r>
              <a:rPr dirty="0" err="1"/>
              <a:t>學生回答「都不一樣</a:t>
            </a:r>
            <a:r>
              <a:rPr dirty="0"/>
              <a:t>」。</a:t>
            </a:r>
          </a:p>
          <a:p>
            <a:endParaRPr dirty="0"/>
          </a:p>
          <a:p>
            <a:r>
              <a:rPr dirty="0" err="1"/>
              <a:t>詮釋：同一批形體，學生用了至少三種不同層次的標準：有沒有尖頂（柱／錐</a:t>
            </a:r>
            <a:r>
              <a:rPr dirty="0"/>
              <a:t>）、</a:t>
            </a:r>
            <a:r>
              <a:rPr dirty="0" err="1"/>
              <a:t>底面是圓還是多邊形、底面的邊數。黑板把這些分歧並排呈現，讓「分類的依據」本身成為全班要比較的對象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理答</a:t>
            </a:r>
            <a:r>
              <a:rPr dirty="0"/>
              <a:t>：【</a:t>
            </a:r>
            <a:r>
              <a:rPr dirty="0" err="1"/>
              <a:t>轉引</a:t>
            </a:r>
            <a:r>
              <a:rPr dirty="0"/>
              <a:t>】「</a:t>
            </a:r>
            <a:r>
              <a:rPr dirty="0" err="1"/>
              <a:t>他們分兩堆</a:t>
            </a:r>
            <a:r>
              <a:rPr dirty="0"/>
              <a:t>……</a:t>
            </a:r>
            <a:r>
              <a:rPr dirty="0" err="1"/>
              <a:t>他們分三堆</a:t>
            </a:r>
            <a:r>
              <a:rPr dirty="0"/>
              <a:t>」「</a:t>
            </a:r>
            <a:r>
              <a:rPr dirty="0" err="1"/>
              <a:t>還有沒有跟他們兩組都不一樣的</a:t>
            </a:r>
            <a:r>
              <a:rPr dirty="0"/>
              <a:t>？」</a:t>
            </a:r>
            <a:r>
              <a:rPr dirty="0" err="1"/>
              <a:t>老師依序收集不同組的分法，先不判斷哪一種對，屬高原策略</a:t>
            </a:r>
            <a:r>
              <a:rPr dirty="0"/>
              <a:t>。【</a:t>
            </a:r>
            <a:r>
              <a:rPr dirty="0" err="1"/>
              <a:t>轉問</a:t>
            </a:r>
            <a:r>
              <a:rPr dirty="0"/>
              <a:t>】「</a:t>
            </a:r>
            <a:r>
              <a:rPr dirty="0" err="1"/>
              <a:t>你有沒有發現現在黑板呈現什麼</a:t>
            </a:r>
            <a:r>
              <a:rPr dirty="0"/>
              <a:t>？」</a:t>
            </a:r>
            <a:r>
              <a:rPr dirty="0" err="1"/>
              <a:t>把並列在黑板上的各組想法交給全班比較，學生回答「都不一樣</a:t>
            </a:r>
            <a:r>
              <a:rPr dirty="0"/>
              <a:t>」。（</a:t>
            </a:r>
            <a:r>
              <a:rPr dirty="0" err="1"/>
              <a:t>各組學生原句辨識不出，此處只分析教師語句</a:t>
            </a:r>
            <a:r>
              <a:rPr dirty="0"/>
              <a:t>。）</a:t>
            </a:r>
          </a:p>
          <a:p>
            <a:endParaRPr dirty="0"/>
          </a:p>
          <a:p>
            <a:r>
              <a:rPr dirty="0"/>
              <a:t>反思：第④種分法以底面形狀命名，其實已經碰觸到下一題（p.71）「</a:t>
            </a:r>
            <a:r>
              <a:rPr dirty="0" err="1"/>
              <a:t>角柱的名稱依照底面形狀命名</a:t>
            </a:r>
            <a:r>
              <a:rPr dirty="0"/>
              <a:t>」。</a:t>
            </a:r>
            <a:r>
              <a:rPr dirty="0" err="1"/>
              <a:t>學生的「不一樣」裡，藏著哪些教材後面才會出現的概念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（</a:t>
            </a:r>
            <a:r>
              <a:rPr dirty="0" err="1"/>
              <a:t>說明：各組學生發表原音辨識不出，此頁依教師轉述與板書推定</a:t>
            </a:r>
            <a:r>
              <a:rPr dirty="0"/>
              <a:t>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描述：有一組學生在說明中說出「梯形</a:t>
            </a:r>
            <a:r>
              <a:rPr dirty="0"/>
              <a:t>」，</a:t>
            </a:r>
            <a:r>
              <a:rPr dirty="0" err="1"/>
              <a:t>接著自己再加上一個字。老師轉述</a:t>
            </a:r>
            <a:r>
              <a:rPr dirty="0"/>
              <a:t>：「你看他很可愛喔，講梯形覺得怪怪的，再加一個。因為你現在有概念，你在講的是立體的東西，所以梯形是平面，自己覺得怪怪的，所以加了一個『體』，</a:t>
            </a:r>
            <a:r>
              <a:rPr dirty="0" err="1"/>
              <a:t>是嗎</a:t>
            </a:r>
            <a:r>
              <a:rPr dirty="0"/>
              <a:t>？」</a:t>
            </a:r>
          </a:p>
          <a:p>
            <a:endParaRPr dirty="0"/>
          </a:p>
          <a:p>
            <a:r>
              <a:rPr dirty="0"/>
              <a:t>詮釋：學生在說話的當下感覺到「梯形」這個詞不對勁，並自我修正，顯示他對平面圖形與立體形體的區分正在形成。老師沒有糾正，而是把這個微小的自我修正說出來，讓全班聽見「覺得怪怪的」本身就是一種數學感覺。</a:t>
            </a:r>
          </a:p>
          <a:p>
            <a:endParaRPr dirty="0"/>
          </a:p>
          <a:p>
            <a:r>
              <a:rPr dirty="0" err="1"/>
              <a:t>理答</a:t>
            </a:r>
            <a:r>
              <a:rPr dirty="0"/>
              <a:t>：【</a:t>
            </a:r>
            <a:r>
              <a:rPr dirty="0" err="1"/>
              <a:t>釐清／代答的邊界】老師轉述學生的自我修正，並以「是嗎</a:t>
            </a:r>
            <a:r>
              <a:rPr dirty="0"/>
              <a:t>？」</a:t>
            </a:r>
            <a:r>
              <a:rPr dirty="0" err="1"/>
              <a:t>向學生確認，形式上是釐清（確認意思</a:t>
            </a:r>
            <a:r>
              <a:rPr dirty="0"/>
              <a:t>）。但轉述中「梯形是平面、你在講的是立體的東西」若不是學生自己說出的，依判準「確認句含有原發言者未說出的內容」即接近代答。因學生原句辨識不完整，無法確定是哪一種，這一點值得在議課時對照現場紀錄。</a:t>
            </a:r>
          </a:p>
          <a:p>
            <a:endParaRPr dirty="0"/>
          </a:p>
          <a:p>
            <a:r>
              <a:rPr dirty="0" err="1"/>
              <a:t>反思</a:t>
            </a:r>
            <a:r>
              <a:rPr dirty="0"/>
              <a:t>：「</a:t>
            </a:r>
            <a:r>
              <a:rPr dirty="0" err="1"/>
              <a:t>覺得怪怪的」是概念衝突浮現的時刻。老師用「是嗎</a:t>
            </a:r>
            <a:r>
              <a:rPr dirty="0"/>
              <a:t>？」</a:t>
            </a:r>
            <a:r>
              <a:rPr dirty="0" err="1"/>
              <a:t>把詮釋權交回給學生</a:t>
            </a:r>
            <a:r>
              <a:rPr dirty="0"/>
              <a:t>——</a:t>
            </a:r>
            <a:r>
              <a:rPr dirty="0" err="1"/>
              <a:t>學生如果說「不是</a:t>
            </a:r>
            <a:r>
              <a:rPr dirty="0"/>
              <a:t>」，</a:t>
            </a:r>
            <a:r>
              <a:rPr dirty="0" err="1"/>
              <a:t>課堂會往哪裡走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（</a:t>
            </a:r>
            <a:r>
              <a:rPr dirty="0" err="1"/>
              <a:t>說明：學生原句辨識不完整，此頁依教師轉述</a:t>
            </a:r>
            <a:r>
              <a:rPr dirty="0"/>
              <a:t>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描述：另一組分成五類，依序說出「三角形、四邊形、五邊形</a:t>
            </a:r>
            <a:r>
              <a:rPr dirty="0"/>
              <a:t>……</a:t>
            </a:r>
            <a:r>
              <a:rPr dirty="0" err="1"/>
              <a:t>六邊形，下面是圓形</a:t>
            </a:r>
            <a:r>
              <a:rPr dirty="0"/>
              <a:t>」（</a:t>
            </a:r>
            <a:r>
              <a:rPr dirty="0" err="1"/>
              <a:t>推定</a:t>
            </a:r>
            <a:r>
              <a:rPr dirty="0"/>
              <a:t>）。</a:t>
            </a:r>
            <a:r>
              <a:rPr dirty="0" err="1"/>
              <a:t>老師提到</a:t>
            </a:r>
            <a:r>
              <a:rPr dirty="0"/>
              <a:t>：「</a:t>
            </a:r>
            <a:r>
              <a:rPr dirty="0" err="1"/>
              <a:t>因為有同學說『體</a:t>
            </a:r>
            <a:r>
              <a:rPr dirty="0"/>
              <a:t>』，</a:t>
            </a:r>
            <a:r>
              <a:rPr dirty="0" err="1"/>
              <a:t>但你還是（說）三角形</a:t>
            </a:r>
            <a:r>
              <a:rPr dirty="0"/>
              <a:t>……」</a:t>
            </a:r>
            <a:r>
              <a:rPr dirty="0" err="1"/>
              <a:t>並描述台下的反應</a:t>
            </a:r>
            <a:r>
              <a:rPr dirty="0"/>
              <a:t>：「</a:t>
            </a:r>
            <a:r>
              <a:rPr dirty="0" err="1"/>
              <a:t>有人一直想要幫他們加</a:t>
            </a:r>
            <a:r>
              <a:rPr dirty="0"/>
              <a:t>（『體』），</a:t>
            </a:r>
            <a:r>
              <a:rPr dirty="0" err="1"/>
              <a:t>對不對？所以表示你覺得怪怪的，你就是一直很想幫他們加</a:t>
            </a:r>
            <a:r>
              <a:rPr dirty="0"/>
              <a:t>。」</a:t>
            </a:r>
            <a:r>
              <a:rPr dirty="0" err="1"/>
              <a:t>也提到副班長「很堅定地再重複</a:t>
            </a:r>
            <a:r>
              <a:rPr dirty="0"/>
              <a:t>」。</a:t>
            </a:r>
          </a:p>
          <a:p>
            <a:endParaRPr dirty="0"/>
          </a:p>
          <a:p>
            <a:r>
              <a:rPr dirty="0"/>
              <a:t>詮釋：前一段的「梯形體」在這裡產生了迴響：已經察覺「平面≠立體」的學生，聽到另一組用平面圖形命名時，想替他們修正。這是同伴之間的思考彼此牽動——</a:t>
            </a:r>
            <a:r>
              <a:rPr dirty="0" err="1"/>
              <a:t>一組的發現成了另一組被檢視的標準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理答</a:t>
            </a:r>
            <a:r>
              <a:rPr dirty="0"/>
              <a:t>：【</a:t>
            </a:r>
            <a:r>
              <a:rPr dirty="0" err="1"/>
              <a:t>轉問</a:t>
            </a:r>
            <a:r>
              <a:rPr dirty="0"/>
              <a:t>】「</a:t>
            </a:r>
            <a:r>
              <a:rPr dirty="0" err="1"/>
              <a:t>他們的五類跟（前一組）的五類有一樣嗎</a:t>
            </a:r>
            <a:r>
              <a:rPr dirty="0"/>
              <a:t>？」</a:t>
            </a:r>
            <a:r>
              <a:rPr dirty="0" err="1"/>
              <a:t>把兩組的分類交給全班比較。老師也把台下「一直想要幫他們加『體</a:t>
            </a:r>
            <a:r>
              <a:rPr dirty="0"/>
              <a:t>』」的反應說出來，讓同伴之間的不同意見被看見，同樣屬於轉問。值得注意的是，逐字稿中沒有出現要發表組自己再說明依據的語句（例如「你們看的是哪裡？」</a:t>
            </a:r>
            <a:r>
              <a:rPr dirty="0" err="1"/>
              <a:t>這類深究</a:t>
            </a:r>
            <a:r>
              <a:rPr dirty="0"/>
              <a:t>），</a:t>
            </a:r>
            <a:r>
              <a:rPr dirty="0" err="1"/>
              <a:t>這組的依據主要是由他人的反應來詮釋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反思：發表的那一組用平面圖形的名稱，可能是在描述「底面</a:t>
            </a:r>
            <a:r>
              <a:rPr dirty="0"/>
              <a:t>」，</a:t>
            </a:r>
            <a:r>
              <a:rPr dirty="0" err="1"/>
              <a:t>而不是整個形體。台下「想幫忙加『體</a:t>
            </a:r>
            <a:r>
              <a:rPr dirty="0"/>
              <a:t>』」</a:t>
            </a:r>
            <a:r>
              <a:rPr dirty="0" err="1"/>
              <a:t>的聲音，有沒有可能也遮住了這組真正想說的依據？如果請他們說「你們看的是哪裡</a:t>
            </a:r>
            <a:r>
              <a:rPr dirty="0"/>
              <a:t>？」</a:t>
            </a:r>
            <a:r>
              <a:rPr dirty="0" err="1"/>
              <a:t>會聽到什麼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（</a:t>
            </a:r>
            <a:r>
              <a:rPr dirty="0" err="1"/>
              <a:t>說明：學生原句辨識不完整，此頁依教師轉述與板書推定</a:t>
            </a:r>
            <a:r>
              <a:rPr dirty="0"/>
              <a:t>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描述：老師說：「好，那我們現在要對照課本。有一些正確，有一些可能要調整一下。」請學生翻回七十頁：「七十頁出現兩個藍色的名詞。」接著問：「什麼是柱體？什麼是錐體？」並提醒「你要思考，答案要在心裡」。</a:t>
            </a:r>
          </a:p>
          <a:p>
            <a:endParaRPr/>
          </a:p>
          <a:p>
            <a:r>
              <a:t>詮釋：在學生的多種分法並列之後，課本的「柱體」「錐體」成為一個對照點，而不是一開始就給的答案。學生是帶著自己的分類經驗去讀課本的定義，定義因此有了可以比較的對象。</a:t>
            </a:r>
          </a:p>
          <a:p>
            <a:endParaRPr/>
          </a:p>
          <a:p>
            <a:r>
              <a:t>理答：【回到文本＋提示】「請你回到課本七十頁。七十頁出現兩個藍色的名詞」把學生帶回教材，並指出要看哪裡，屬於提示。【等待】「你要思考，答案要在心裡」在全班回答之前保留思考時間。</a:t>
            </a:r>
          </a:p>
          <a:p>
            <a:endParaRPr/>
          </a:p>
          <a:p>
            <a:r>
              <a:t>反思：「有一些正確，有一些可能要調整」這句話，讓學生帶著自己那一堆去對照。被認為需要「調整」的那一組，他們的分類依據是否也被說出來、被理解了？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描述：老師問「請問什麼是柱體</a:t>
            </a:r>
            <a:r>
              <a:rPr dirty="0"/>
              <a:t>？」</a:t>
            </a:r>
            <a:r>
              <a:rPr dirty="0" err="1"/>
              <a:t>一位學生回答「就是上面沒有尖尖的</a:t>
            </a:r>
            <a:r>
              <a:rPr dirty="0"/>
              <a:t>」，</a:t>
            </a:r>
            <a:r>
              <a:rPr dirty="0" err="1"/>
              <a:t>老師提醒全班「欸，他在說話了</a:t>
            </a:r>
            <a:r>
              <a:rPr dirty="0"/>
              <a:t>」，</a:t>
            </a:r>
            <a:r>
              <a:rPr dirty="0" err="1"/>
              <a:t>追問「什麼東西上面沒有尖尖的</a:t>
            </a:r>
            <a:r>
              <a:rPr dirty="0"/>
              <a:t>？」</a:t>
            </a:r>
            <a:r>
              <a:rPr dirty="0" err="1"/>
              <a:t>之後全班歸納出「柱體上面沒有尖尖的，錐體上面有尖尖的</a:t>
            </a:r>
            <a:r>
              <a:rPr dirty="0"/>
              <a:t>」。</a:t>
            </a:r>
            <a:r>
              <a:rPr dirty="0" err="1"/>
              <a:t>老師請大家「先組內練習說：柱體是什麼，錐體是什麼</a:t>
            </a:r>
            <a:r>
              <a:rPr dirty="0"/>
              <a:t>」，</a:t>
            </a:r>
            <a:r>
              <a:rPr dirty="0" err="1"/>
              <a:t>再一起重複結論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詮釋：學生的定義用的是生活語言「尖尖的</a:t>
            </a:r>
            <a:r>
              <a:rPr dirty="0"/>
              <a:t>」，與課本「頂端都是尖尖的像錐子」的說法相近。老師先讓這句話在小組內反覆說，讓每個人都有機會用自己的嘴說出定義，而不只是聽一位同學說。</a:t>
            </a:r>
          </a:p>
          <a:p>
            <a:endParaRPr dirty="0"/>
          </a:p>
          <a:p>
            <a:r>
              <a:rPr dirty="0" err="1"/>
              <a:t>理答</a:t>
            </a:r>
            <a:r>
              <a:rPr dirty="0"/>
              <a:t>：【</a:t>
            </a:r>
            <a:r>
              <a:rPr dirty="0" err="1"/>
              <a:t>深究</a:t>
            </a:r>
            <a:r>
              <a:rPr dirty="0"/>
              <a:t>】「</a:t>
            </a:r>
            <a:r>
              <a:rPr dirty="0" err="1"/>
              <a:t>什麼東西上面沒有尖尖的</a:t>
            </a:r>
            <a:r>
              <a:rPr dirty="0"/>
              <a:t>？」</a:t>
            </a:r>
            <a:r>
              <a:rPr dirty="0" err="1"/>
              <a:t>要學生把「上面沒有尖尖的」說得更具體，指出是哪一類形體</a:t>
            </a:r>
            <a:r>
              <a:rPr dirty="0"/>
              <a:t>。「</a:t>
            </a:r>
            <a:r>
              <a:rPr dirty="0" err="1"/>
              <a:t>欸，他在說話了」是喚起傾聽、讓發言被聽見的提醒</a:t>
            </a:r>
            <a:r>
              <a:rPr dirty="0"/>
              <a:t>。【</a:t>
            </a:r>
            <a:r>
              <a:rPr dirty="0" err="1"/>
              <a:t>轉問（全員複述</a:t>
            </a:r>
            <a:r>
              <a:rPr dirty="0"/>
              <a:t>）】「</a:t>
            </a:r>
            <a:r>
              <a:rPr dirty="0" err="1"/>
              <a:t>先組內練習說：柱體是什麼，錐體是什麼」把一位同學的說法交給每個小組複述，讓一個人的定義變成每個人的語言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反思</a:t>
            </a:r>
            <a:r>
              <a:rPr dirty="0"/>
              <a:t>：「</a:t>
            </a:r>
            <a:r>
              <a:rPr dirty="0" err="1"/>
              <a:t>組內練習說」把一個人的發言變成每個人的語言。說出來之後，學生能不能用這句話去判斷一個新的形體？這是檢驗定義是否被內化的線索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描述：老師說</a:t>
            </a:r>
            <a:r>
              <a:rPr dirty="0"/>
              <a:t>：「</a:t>
            </a:r>
            <a:r>
              <a:rPr dirty="0" err="1"/>
              <a:t>那我們稍微調整一下喔，聽我的語言喔。你剛剛不是說錐體上面有尖尖的嗎？我們可以改成：錐體的上面是一個頂點，可以嗎</a:t>
            </a:r>
            <a:r>
              <a:rPr dirty="0"/>
              <a:t>？」</a:t>
            </a:r>
            <a:r>
              <a:rPr dirty="0" err="1"/>
              <a:t>學生答「可以</a:t>
            </a:r>
            <a:r>
              <a:rPr dirty="0"/>
              <a:t>」。</a:t>
            </a:r>
            <a:r>
              <a:rPr dirty="0" err="1"/>
              <a:t>接著問柱體</a:t>
            </a:r>
            <a:r>
              <a:rPr dirty="0"/>
              <a:t>：「</a:t>
            </a:r>
            <a:r>
              <a:rPr dirty="0" err="1"/>
              <a:t>上面有頂點嗎？那我問你，柱體上面是什麼</a:t>
            </a:r>
            <a:r>
              <a:rPr dirty="0"/>
              <a:t>？」</a:t>
            </a:r>
            <a:r>
              <a:rPr dirty="0" err="1"/>
              <a:t>並說出「這上面跟下面兩個面互相平行</a:t>
            </a:r>
            <a:r>
              <a:rPr dirty="0"/>
              <a:t>」。</a:t>
            </a:r>
          </a:p>
          <a:p>
            <a:endParaRPr dirty="0"/>
          </a:p>
          <a:p>
            <a:r>
              <a:rPr dirty="0" err="1"/>
              <a:t>詮釋：這是本節課概念最集中的時刻。學生的「尖尖的」被保留為起點，再被翻譯成數學名詞「頂點</a:t>
            </a:r>
            <a:r>
              <a:rPr dirty="0"/>
              <a:t>」；</a:t>
            </a:r>
            <a:r>
              <a:rPr dirty="0" err="1"/>
              <a:t>柱體的「上面」則連回課堂前半段剛檢查過的「互相平行</a:t>
            </a:r>
            <a:r>
              <a:rPr dirty="0"/>
              <a:t>」。5-1 </a:t>
            </a:r>
            <a:r>
              <a:rPr dirty="0" err="1"/>
              <a:t>的面與面關係，在這裡成為</a:t>
            </a:r>
            <a:r>
              <a:rPr dirty="0"/>
              <a:t> 5-2 </a:t>
            </a:r>
            <a:r>
              <a:rPr dirty="0" err="1"/>
              <a:t>定義柱體的工具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理答</a:t>
            </a:r>
            <a:r>
              <a:rPr dirty="0"/>
              <a:t>：【</a:t>
            </a:r>
            <a:r>
              <a:rPr dirty="0" err="1"/>
              <a:t>提示（含代答成分</a:t>
            </a:r>
            <a:r>
              <a:rPr dirty="0"/>
              <a:t>）】「</a:t>
            </a:r>
            <a:r>
              <a:rPr dirty="0" err="1"/>
              <a:t>我們可以改成：錐體的上面是一個頂點，可以嗎</a:t>
            </a:r>
            <a:r>
              <a:rPr dirty="0"/>
              <a:t>？」</a:t>
            </a:r>
            <a:r>
              <a:rPr dirty="0" err="1"/>
              <a:t>老師提供了學生尚未說出的數學名詞「頂點</a:t>
            </a:r>
            <a:r>
              <a:rPr dirty="0"/>
              <a:t>」，</a:t>
            </a:r>
            <a:r>
              <a:rPr dirty="0" err="1"/>
              <a:t>再以「可以嗎</a:t>
            </a:r>
            <a:r>
              <a:rPr dirty="0"/>
              <a:t>？」</a:t>
            </a:r>
            <a:r>
              <a:rPr dirty="0" err="1"/>
              <a:t>徵求同意</a:t>
            </a:r>
            <a:r>
              <a:rPr dirty="0"/>
              <a:t>——</a:t>
            </a:r>
            <a:r>
              <a:rPr dirty="0" err="1"/>
              <a:t>新名詞由老師給出，學生只需附和，帶有代答成分；這也是從生活語言跨向數學語言時常見的做法</a:t>
            </a:r>
            <a:r>
              <a:rPr dirty="0"/>
              <a:t>。【</a:t>
            </a:r>
            <a:r>
              <a:rPr dirty="0" err="1"/>
              <a:t>深究</a:t>
            </a:r>
            <a:r>
              <a:rPr dirty="0"/>
              <a:t>】「</a:t>
            </a:r>
            <a:r>
              <a:rPr dirty="0" err="1"/>
              <a:t>柱體上面是什麼</a:t>
            </a:r>
            <a:r>
              <a:rPr dirty="0"/>
              <a:t>？」</a:t>
            </a:r>
            <a:r>
              <a:rPr dirty="0" err="1"/>
              <a:t>要學生說出比「沒有尖尖的」更多的內容</a:t>
            </a:r>
            <a:r>
              <a:rPr dirty="0"/>
              <a:t>。「</a:t>
            </a:r>
            <a:r>
              <a:rPr dirty="0" err="1"/>
              <a:t>上下兩個面互相平行」一句由誰說出，原音可信度為中，若為老師說出則亦屬代答，議課時可再確認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反思：前半節用箱子檢查「垂直</a:t>
            </a:r>
            <a:r>
              <a:rPr dirty="0"/>
              <a:t>」，</a:t>
            </a:r>
            <a:r>
              <a:rPr dirty="0" err="1"/>
              <a:t>後半節用「平行」描述柱體的上下兩面</a:t>
            </a:r>
            <a:r>
              <a:rPr dirty="0"/>
              <a:t>——</a:t>
            </a:r>
            <a:r>
              <a:rPr dirty="0" err="1"/>
              <a:t>兩段看似分開的活動，在這一刻被串起來。學生自己有沒有意識到這個連結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（</a:t>
            </a:r>
            <a:r>
              <a:rPr dirty="0" err="1"/>
              <a:t>說明</a:t>
            </a:r>
            <a:r>
              <a:rPr dirty="0"/>
              <a:t>：「</a:t>
            </a:r>
            <a:r>
              <a:rPr dirty="0" err="1"/>
              <a:t>互相平行」三源辨識一致度為中，依課本</a:t>
            </a:r>
            <a:r>
              <a:rPr dirty="0"/>
              <a:t> p.71「上、下兩個面」與上下文推定。）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描述：老師說：「第一個分類：柱體跟錐體。請問柱體，先把所有的柱體先歸到一類。我們已經在用數學概念了，要用學過的數學概念去重新分類。」學生把柱體歸成一類後，老師問：「你們發現又有一點點（不一樣）……我們發現有的上下是圓形的。等一下，有出現了一個名詞。」</a:t>
            </a:r>
          </a:p>
          <a:p>
            <a:endParaRPr/>
          </a:p>
          <a:p>
            <a:r>
              <a:t>詮釋：學生先用自己的標準分類，再用剛建立的「柱體／錐體」重新分一次，接著在柱體裡發現「上下是圓形」與其他的不同——這正是課本下一題（p.71）「將柱體再分成兩類：角柱與圓柱」的起點。分類活動一層一層地推進，每一層都從學生的發現出發。</a:t>
            </a:r>
          </a:p>
          <a:p>
            <a:endParaRPr/>
          </a:p>
          <a:p>
            <a:r>
              <a:t>理答：【提示】「要用學過的數學概念去重新分類」指定了新的分類標準（柱體／錐體），提供了新資訊。【深究】「你們發現又有一點點（不一樣）」要學生在已經歸成一類的柱體裡，再找出更多的差異，為「角柱／圓柱」的分化鋪路。</a:t>
            </a:r>
          </a:p>
          <a:p>
            <a:endParaRPr/>
          </a:p>
          <a:p>
            <a:r>
              <a:t>反思：先前黑板上第②、④種分法，其實已經觸及「圓柱／角柱」與「底面形狀」。重新分類時，提出這些分法的學生會不會發現「我剛才的想法原來在這裡」？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12480" y="-1097280"/>
            <a:ext cx="5120640" cy="5120640"/>
          </a:xfrm>
          <a:prstGeom prst="ellipse">
            <a:avLst/>
          </a:prstGeom>
          <a:solidFill>
            <a:srgbClr val="D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4023360"/>
            <a:ext cx="3108960" cy="3108960"/>
          </a:xfrm>
          <a:prstGeom prst="ellipse">
            <a:avLst/>
          </a:prstGeom>
          <a:solidFill>
            <a:srgbClr val="C9D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2377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280160"/>
            <a:ext cx="8686800" cy="2651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4400" b="1">
                <a:solidFill>
                  <a:srgbClr val="23412D"/>
                </a:solidFill>
                <a:latin typeface="Microsoft JhengHei"/>
                <a:ea typeface="Microsoft JhengHei"/>
              </a:rPr>
              <a:t>用長方體檢查世界，</a:t>
            </a:r>
          </a:p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4400" b="1">
                <a:solidFill>
                  <a:srgbClr val="23412D"/>
                </a:solidFill>
                <a:latin typeface="Microsoft JhengHei"/>
                <a:ea typeface="Microsoft JhengHei"/>
              </a:rPr>
              <a:t>用「依據」說出分類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069080"/>
            <a:ext cx="8686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2200" b="0">
                <a:solidFill>
                  <a:srgbClr val="2C332D"/>
                </a:solidFill>
                <a:latin typeface="Microsoft JhengHei"/>
                <a:ea typeface="Microsoft JhengHei"/>
              </a:rPr>
              <a:t>王斐瑜老師 五年級數學公開課 課例研究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800600"/>
            <a:ext cx="89611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400" b="0">
                <a:solidFill>
                  <a:srgbClr val="6B736C"/>
                </a:solidFill>
                <a:latin typeface="Microsoft JhengHei"/>
                <a:ea typeface="Microsoft JhengHei"/>
              </a:rPr>
              <a:t>翰林五上 第五單元 立體形體｜5-1 面的垂直與平行 → 5-2 柱體和錐體的分類｜2026-10-15｜504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400" b="1">
                <a:solidFill>
                  <a:srgbClr val="23412D"/>
                </a:solidFill>
                <a:latin typeface="Microsoft JhengHei"/>
                <a:ea typeface="Microsoft JhengHei"/>
              </a:rPr>
              <a:t>這節課的兩段旅程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530352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5303520" cy="109728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19" y="1737360"/>
            <a:ext cx="4754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2200" b="1">
                <a:solidFill>
                  <a:srgbClr val="23412D"/>
                </a:solidFill>
                <a:latin typeface="Microsoft JhengHei"/>
                <a:ea typeface="Microsoft JhengHei"/>
              </a:rPr>
              <a:t>前段 00:00–14:10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2240280"/>
            <a:ext cx="4754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500" b="0">
                <a:solidFill>
                  <a:srgbClr val="6B736C"/>
                </a:solidFill>
                <a:latin typeface="Microsoft JhengHei"/>
                <a:ea typeface="Microsoft JhengHei"/>
              </a:rPr>
              <a:t>5-1 面的垂直與平行（p.67–69）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880360"/>
            <a:ext cx="4754880" cy="2651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1200"/>
              </a:spcAft>
            </a:pPr>
            <a:r>
              <a:rPr lang="zh-TW" altLang="en-US" sz="1200" b="0">
                <a:solidFill>
                  <a:srgbClr val="7A9A6E"/>
                </a:solidFill>
                <a:latin typeface="Microsoft JhengHei"/>
                <a:ea typeface="Microsoft JhengHei"/>
              </a:rPr>
              <a:t>●  </a:t>
            </a:r>
            <a:r>
              <a:rPr lang="zh-TW" altLang="en-US" sz="1700" b="0">
                <a:solidFill>
                  <a:srgbClr val="2C332D"/>
                </a:solidFill>
                <a:latin typeface="Microsoft JhengHei"/>
                <a:ea typeface="Microsoft JhengHei"/>
              </a:rPr>
              <a:t>拿長方體箱子到教室各處檢查垂直</a:t>
            </a:r>
          </a:p>
          <a:p>
            <a:pPr algn="l" eaLnBrk="1" hangingPunct="1">
              <a:lnSpc>
                <a:spcPct val="115000"/>
              </a:lnSpc>
              <a:spcAft>
                <a:spcPts val="1200"/>
              </a:spcAft>
            </a:pPr>
            <a:r>
              <a:rPr lang="zh-TW" altLang="en-US" sz="1200" b="0">
                <a:solidFill>
                  <a:srgbClr val="7A9A6E"/>
                </a:solidFill>
                <a:latin typeface="Microsoft JhengHei"/>
                <a:ea typeface="Microsoft JhengHei"/>
              </a:rPr>
              <a:t>●  </a:t>
            </a:r>
            <a:r>
              <a:rPr lang="zh-TW" altLang="en-US" sz="1700" b="0">
                <a:solidFill>
                  <a:srgbClr val="2C332D"/>
                </a:solidFill>
                <a:latin typeface="Microsoft JhengHei"/>
                <a:ea typeface="Microsoft JhengHei"/>
              </a:rPr>
              <a:t>學生選檢查點：桌角、講台、地板與牆壁、窗框</a:t>
            </a:r>
          </a:p>
          <a:p>
            <a:pPr algn="l" eaLnBrk="1" hangingPunct="1">
              <a:lnSpc>
                <a:spcPct val="115000"/>
              </a:lnSpc>
              <a:spcAft>
                <a:spcPts val="1200"/>
              </a:spcAft>
            </a:pPr>
            <a:r>
              <a:rPr lang="zh-TW" altLang="en-US" sz="1200" b="0">
                <a:solidFill>
                  <a:srgbClr val="7A9A6E"/>
                </a:solidFill>
                <a:latin typeface="Microsoft JhengHei"/>
                <a:ea typeface="Microsoft JhengHei"/>
              </a:rPr>
              <a:t>●  </a:t>
            </a:r>
            <a:r>
              <a:rPr lang="zh-TW" altLang="en-US" sz="1700" b="0">
                <a:solidFill>
                  <a:srgbClr val="2C332D"/>
                </a:solidFill>
                <a:latin typeface="Microsoft JhengHei"/>
                <a:ea typeface="Microsoft JhengHei"/>
              </a:rPr>
              <a:t>回到習作：以字母命名的面判斷平行／垂直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5303520" cy="109728"/>
          </a:xfrm>
          <a:prstGeom prst="rect">
            <a:avLst/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1737360"/>
            <a:ext cx="4754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2200" b="1">
                <a:solidFill>
                  <a:srgbClr val="23412D"/>
                </a:solidFill>
                <a:latin typeface="Microsoft JhengHei"/>
                <a:ea typeface="Microsoft JhengHei"/>
              </a:rPr>
              <a:t>後段 14:10–39:35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240280"/>
            <a:ext cx="4754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500" b="0">
                <a:solidFill>
                  <a:srgbClr val="6B736C"/>
                </a:solidFill>
                <a:latin typeface="Microsoft JhengHei"/>
                <a:ea typeface="Microsoft JhengHei"/>
              </a:rPr>
              <a:t>5-2 柱體和錐體的分類（p.70）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880360"/>
            <a:ext cx="4754880" cy="2651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1200"/>
              </a:spcAft>
            </a:pPr>
            <a:r>
              <a:rPr lang="zh-TW" altLang="en-US" sz="1200" b="0">
                <a:solidFill>
                  <a:srgbClr val="7A9A6E"/>
                </a:solidFill>
                <a:latin typeface="Microsoft JhengHei"/>
                <a:ea typeface="Microsoft JhengHei"/>
              </a:rPr>
              <a:t>●  </a:t>
            </a:r>
            <a:r>
              <a:rPr lang="zh-TW" altLang="en-US" sz="1700" b="0">
                <a:solidFill>
                  <a:srgbClr val="2C332D"/>
                </a:solidFill>
                <a:latin typeface="Microsoft JhengHei"/>
                <a:ea typeface="Microsoft JhengHei"/>
              </a:rPr>
              <a:t>兩人一組，自訂標準分類紙形體</a:t>
            </a:r>
          </a:p>
          <a:p>
            <a:pPr algn="l" eaLnBrk="1" hangingPunct="1">
              <a:lnSpc>
                <a:spcPct val="115000"/>
              </a:lnSpc>
              <a:spcAft>
                <a:spcPts val="1200"/>
              </a:spcAft>
            </a:pPr>
            <a:r>
              <a:rPr lang="zh-TW" altLang="en-US" sz="1200" b="0">
                <a:solidFill>
                  <a:srgbClr val="7A9A6E"/>
                </a:solidFill>
                <a:latin typeface="Microsoft JhengHei"/>
                <a:ea typeface="Microsoft JhengHei"/>
              </a:rPr>
              <a:t>●  </a:t>
            </a:r>
            <a:r>
              <a:rPr lang="zh-TW" altLang="en-US" sz="1700" b="0">
                <a:solidFill>
                  <a:srgbClr val="2C332D"/>
                </a:solidFill>
                <a:latin typeface="Microsoft JhengHei"/>
                <a:ea typeface="Microsoft JhengHei"/>
              </a:rPr>
              <a:t>各組分法上黑板：兩堆、三堆、五類</a:t>
            </a:r>
          </a:p>
          <a:p>
            <a:pPr algn="l" eaLnBrk="1" hangingPunct="1">
              <a:lnSpc>
                <a:spcPct val="115000"/>
              </a:lnSpc>
              <a:spcAft>
                <a:spcPts val="1200"/>
              </a:spcAft>
            </a:pPr>
            <a:r>
              <a:rPr lang="zh-TW" altLang="en-US" sz="1200" b="0">
                <a:solidFill>
                  <a:srgbClr val="7A9A6E"/>
                </a:solidFill>
                <a:latin typeface="Microsoft JhengHei"/>
                <a:ea typeface="Microsoft JhengHei"/>
              </a:rPr>
              <a:t>●  </a:t>
            </a:r>
            <a:r>
              <a:rPr lang="zh-TW" altLang="en-US" sz="1700" b="0">
                <a:solidFill>
                  <a:srgbClr val="2C332D"/>
                </a:solidFill>
                <a:latin typeface="Microsoft JhengHei"/>
                <a:ea typeface="Microsoft JhengHei"/>
              </a:rPr>
              <a:t>「尖尖的」→「頂點」；上下兩面「互相平行」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806440"/>
            <a:ext cx="10881360" cy="502920"/>
          </a:xfrm>
          <a:prstGeom prst="roundRect">
            <a:avLst>
              <a:gd name="adj" fmla="val 30000"/>
            </a:avLst>
          </a:prstGeom>
          <a:solidFill>
            <a:srgbClr val="DC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833872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分析框架：描述—詮釋—反思 ＋ 理答六策略（轉引・轉問・反問・提示・釐清・深究）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1 段　01:03–02:15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用身體與教室檢驗「垂直」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從「說得出來」到「檢查得出來」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900" b="1">
                <a:solidFill>
                  <a:srgbClr val="2C332D"/>
                </a:solidFill>
                <a:latin typeface="Microsoft JhengHei"/>
                <a:ea typeface="Microsoft JhengHei"/>
              </a:rPr>
              <a:t>但是昨天我們有沒有拿東西檢查？</a:t>
            </a: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教師｜01:03–02:15｜逐字稿可信度：中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翻回課本 p.68–69，教師問「教室內哪一個面跟哪一個面是垂直的」，學生答昨天「沒有」拿東西檢查。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p.67 的紙上練習被轉成「拿工具到真實空間驗證」的任務，數學從口頭判斷走向可被檢驗的證據。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2203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反問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把「有沒有證據」丟回給全班判斷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提示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「先給你一個工具」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438144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回到文本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看回課本六十九頁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215384"/>
            <a:ext cx="3749039" cy="2048255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4325112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626864"/>
            <a:ext cx="3337559" cy="15910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「說得出來」與「檢查得出來」之間，學生的理解有什麼不同？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2 段　02:47–04:24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一個長方體箱子成為檢查工具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教師示範與「看不到就走過來看」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5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650" b="1">
                <a:solidFill>
                  <a:srgbClr val="2C332D"/>
                </a:solidFill>
                <a:latin typeface="Microsoft JhengHei"/>
                <a:ea typeface="Microsoft JhengHei"/>
              </a:rPr>
              <a:t>要用長方體的箱子來檢查，檢查平行或檢查垂直都可以。</a:t>
            </a:r>
            <a:r>
              <a:rPr lang="zh-TW" altLang="en-US" sz="165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教師｜02:47–04:24｜逐字稿可信度：高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教師把箱子靠在椅子邊示範，再交給學生自選檢查點；看不到的學生站起來、圍到同學桌邊看。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長方體從「被觀察的對象」變成「量別的東西的工具」——兩個相鄰面要和兩個平面完全密合。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1636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提示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示範提供「怎麼檢查」的新資訊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交還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「你試看看，看你要放哪裡」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648456"/>
            <a:ext cx="3749039" cy="2615183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3758184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59936"/>
            <a:ext cx="3337559" cy="215798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圍到桌邊的學生，是在看「操作者」，還是在看「兩個面有沒有密合」？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3 段　04:24–08:20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桌角、講台、窗框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每個人想檢查的地方都不一樣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900" b="1">
                <a:solidFill>
                  <a:srgbClr val="2C332D"/>
                </a:solidFill>
                <a:latin typeface="Microsoft JhengHei"/>
                <a:ea typeface="Microsoft JhengHei"/>
              </a:rPr>
              <a:t>還有沒有？這兩個都很不一樣。</a:t>
            </a: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教師｜04:24–08:20｜逐字稿可信度：高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學生依序檢查桌角、地板與講台、窗框；說不出「窗框」時，同學想幫忙，教師說「同學讓他說出來」。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教室空間成為數學素材。學生知道要檢查的「面」在哪，卻還沒有適切的名詞——說話時間被保留下來。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2770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轉引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「還有沒有？」收集不同檢查點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等待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「同學讓他說出來」擋下代答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438144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提示＋深究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「窗台，還是窗框？」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005072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評價語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「有，很好」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4782312"/>
            <a:ext cx="3749039" cy="1481327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0" y="4892040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193792"/>
            <a:ext cx="3337559" cy="10241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「同學讓他說出來」守住的是誰的言談權？台下想幫忙的同學學到了什麼？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4 段　09:20–09:50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「看著說話的人」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把傾聽說成一種尊重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900" b="1">
                <a:solidFill>
                  <a:srgbClr val="2C332D"/>
                </a:solidFill>
                <a:latin typeface="Microsoft JhengHei"/>
                <a:ea typeface="Microsoft JhengHei"/>
              </a:rPr>
              <a:t>我們基本的尊重，要看說話的人，要聽。</a:t>
            </a: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教師｜09:20–09:50｜逐字稿可信度：高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教師停下來問：「你在聽人家講話，你的眼睛會自然怎樣？」學生答「看他」。此後反覆提醒「看著說話的人」。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傾聽被具體化為「眼睛朝向說話者」的身體姿態，並定位為尊重而非紀律。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1069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理答的前提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不屬六策略；為之後的轉問準備「真的聽到」的聽者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081528"/>
            <a:ext cx="3749039" cy="3182111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0" y="3191256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493008"/>
            <a:ext cx="3337559" cy="272491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眼睛朝向說話者之後，心是否也朝向了對方的想法？我們怎麼分辨？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5 段　10:44–11:34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「地板跟牆壁」與肢體語言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同時看見內容與說話的方式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900" b="1">
                <a:solidFill>
                  <a:srgbClr val="2C332D"/>
                </a:solidFill>
                <a:latin typeface="Microsoft JhengHei"/>
                <a:ea typeface="Microsoft JhengHei"/>
              </a:rPr>
              <a:t>正確嗎？很正確喔。</a:t>
            </a: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教師｜10:44–11:34｜逐字稿可信度：高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學生說出「地板跟牆壁」，教師請他再說一次、問全班「正確嗎？」，接著肯定他說話時看著聽者。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一段回應處理兩件事：數學判斷與溝通姿態。傾聽被描述成雙向——說的人也朝向聽的人。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2203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釐清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「再一次」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轉問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「正確嗎？」交給全班判斷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438144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評價語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「很正確喔」使轉問先收束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215384"/>
            <a:ext cx="3749039" cy="2048255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4325112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626864"/>
            <a:ext cx="3337559" cy="15910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「很正確喔」先出現時，其他學生還有理由繼續想「為什麼正確」嗎？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6 段　11:34–14:10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從教室實物回到紙上的面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垂直、平行回到習作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900" b="1">
                <a:solidFill>
                  <a:srgbClr val="2C332D"/>
                </a:solidFill>
                <a:latin typeface="Microsoft JhengHei"/>
                <a:ea typeface="Microsoft JhengHei"/>
              </a:rPr>
              <a:t>寫好的可以交流一下你們寫的有沒有一樣。</a:t>
            </a: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教師｜11:34–14:10｜逐字稿可信度：高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學生完成課本練習並互相對照；教師串起「從昨天到早自習十分鐘」講的平行、垂直。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空間中的檢查經驗，回到 p.69「面 ABCD 和面 EFGH」以字母命名的紙上判斷，經驗與表徵往返一次。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1636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轉問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把答案交給同伴比較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回到文本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回到課本練習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648456"/>
            <a:ext cx="3749039" cy="2615183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3758184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59936"/>
            <a:ext cx="3337559" cy="215798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習作寫不出來的學生，剛才在教室裡是怎麼檢查的？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7 段　14:10–15:40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沒有標準答案的分類任務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「現在沒有一定，大家不一定一樣」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5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650" b="1">
                <a:solidFill>
                  <a:srgbClr val="2C332D"/>
                </a:solidFill>
                <a:latin typeface="Microsoft JhengHei"/>
                <a:ea typeface="Microsoft JhengHei"/>
              </a:rPr>
              <a:t>我們等一下就問：你分類的依據、你分類的標準是什麼。</a:t>
            </a:r>
            <a:r>
              <a:rPr lang="zh-TW" altLang="en-US" sz="165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教師｜14:10–15:40｜逐字稿可信度：高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進入 p.70，兩人一組把附件做成的形體分堆；教師先預告之後要問「分類的依據」。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課本的答案（像柱子／頂端尖尖）沒有先給，分類標準由學生決定，但每一種分法都要說得出理由。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1636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深究（預告）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操作前就說出要追問的「依據」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轉引的氣氛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「不一定一樣」讓差異被期待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648456"/>
            <a:ext cx="3749039" cy="2615183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3758184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59936"/>
            <a:ext cx="3337559" cy="215798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「依據」在動手前就被說出，學生動手時是否已在準備「等一下怎麼說」？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8 段　15:40–21:50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兩人一組的協調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操作中的質性時間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900" b="1">
                <a:solidFill>
                  <a:srgbClr val="2C332D"/>
                </a:solidFill>
                <a:latin typeface="Microsoft JhengHei"/>
                <a:ea typeface="Microsoft JhengHei"/>
              </a:rPr>
              <a:t>你現在發現同學分的都不太一樣嗎？</a:t>
            </a: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教師｜15:40–21:50｜逐字稿可信度：中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桌上散放圓柱、角柱、角錐、圓錐；學生前後轉身互看。教師多次問「還需要時間的舉手」，操作約六分鐘。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節奏由學生決定；「分的都不太一樣」把差異變成可以期待的事，而不是錯誤。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2203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深究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「他分出來的原因是什麼？」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轉問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看同一組別人的分類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438144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等待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「還需要時間的舉手」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215384"/>
            <a:ext cx="3749039" cy="2048255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4325112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626864"/>
            <a:ext cx="3337559" cy="15910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兩人協調出一種分法時，被讓渡的那個想法去了哪裡？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9 段　21:50–22:59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先看別人怎麼分，再聽他們說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「在心裡猜一下」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900" b="1">
                <a:solidFill>
                  <a:srgbClr val="2C332D"/>
                </a:solidFill>
                <a:latin typeface="Microsoft JhengHei"/>
                <a:ea typeface="Microsoft JhengHei"/>
              </a:rPr>
              <a:t>先走過來看一下，然後猜測，在心裡猜一下。</a:t>
            </a: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教師｜21:50–22:59｜逐字稿可信度：高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班長那組發表前，全班先圍到他們桌邊看分堆、在心裡猜依據，再回到座位聽說明。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聽者帶著自己的假設去聽——發表不再是單向報告，而是全班核對「我猜的跟他說的一樣嗎」。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1636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轉問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把成果先交給全班解讀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等待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「在心裡」保留不出聲的思考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648456"/>
            <a:ext cx="3749039" cy="2615183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3758184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59936"/>
            <a:ext cx="3337559" cy="215798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猜錯的學生與沒猜過的學生，聽到真正的依據時經驗有何不同？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10 段　23:42–31:55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兩堆、三堆、五類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黑板上的四種分法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900" b="1">
                <a:solidFill>
                  <a:srgbClr val="2C332D"/>
                </a:solidFill>
                <a:latin typeface="Microsoft JhengHei"/>
                <a:ea typeface="Microsoft JhengHei"/>
              </a:rPr>
              <a:t>你有沒有發現現在黑板呈現什麼？（學生：都不一樣）</a:t>
            </a: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教師｜23:42–31:55｜逐字稿可信度：中</a:t>
            </a:r>
          </a:p>
        </p:txBody>
      </p:sp>
      <p:pic>
        <p:nvPicPr>
          <p:cNvPr id="9" name="Picture 8" descr="board_31m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46120"/>
            <a:ext cx="3291840" cy="19058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16636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00" b="0">
                <a:solidFill>
                  <a:srgbClr val="6B736C"/>
                </a:solidFill>
                <a:latin typeface="Microsoft JhengHei"/>
                <a:ea typeface="Microsoft JhengHei"/>
              </a:rPr>
              <a:t>31:45 黑板（360p 放大）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2369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32369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200400"/>
            <a:ext cx="2651760" cy="21031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500" b="0">
                <a:solidFill>
                  <a:srgbClr val="2C332D"/>
                </a:solidFill>
                <a:latin typeface="Microsoft JhengHei"/>
                <a:ea typeface="Microsoft JhengHei"/>
              </a:rPr>
              <a:t>31:45 黑板：①柱體／錐體 ②圓柱體／角柱體／錐體 ③錐體／圓柱體／長方體… ④三角形／四邊形／五邊形／六邊形／圓形。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5229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55229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5486400"/>
            <a:ext cx="61264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500" b="0">
                <a:solidFill>
                  <a:srgbClr val="2C332D"/>
                </a:solidFill>
                <a:latin typeface="Microsoft JhengHei"/>
                <a:ea typeface="Microsoft JhengHei"/>
              </a:rPr>
              <a:t>同一批形體出現三種層次的標準：有沒有尖頂、底面是圓或多邊形、底面的邊數。「依據」本身成為比較對象。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828800"/>
            <a:ext cx="3749039" cy="1636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轉引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「還有沒有跟他們兩組都不一樣的？」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轉問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把黑板上的各組想法交給全班比較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648456"/>
            <a:ext cx="3749039" cy="2615183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0" y="3758184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059936"/>
            <a:ext cx="3337559" cy="215798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第④種分法已碰觸 p.71「角柱依底面命名」。學生的「不一樣」裡藏著哪些後面的概念？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00" b="0">
                <a:solidFill>
                  <a:srgbClr val="6B736C"/>
                </a:solidFill>
                <a:latin typeface="Microsoft JhengHei"/>
                <a:ea typeface="Microsoft JhengHei"/>
              </a:rPr>
              <a:t>※ 各組學生原音辨識不出，依教師轉述與板書推定。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11 段　28:00–28:40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「梯形」後面多加的「體」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學生自己察覺平面與立體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5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650" b="1">
                <a:solidFill>
                  <a:srgbClr val="2C332D"/>
                </a:solidFill>
                <a:latin typeface="Microsoft JhengHei"/>
                <a:ea typeface="Microsoft JhengHei"/>
              </a:rPr>
              <a:t>講梯形覺得怪怪的，再加一個……所以加了一個「體」，是嗎？</a:t>
            </a:r>
            <a:r>
              <a:rPr lang="zh-TW" altLang="en-US" sz="165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教師轉述｜28:00–28:40｜逐字稿可信度：高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一組學生說出「梯形」後自己補上一個字，教師把這個自我修正說給全班聽。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說話當下察覺「梯形」不對勁並自我修正——平面圖形與立體形體的區分正在形成。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1636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釐清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以「是嗎？」確認意思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代答的邊界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「梯形是平面」若非學生所說，近於代答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648456"/>
            <a:ext cx="3749039" cy="2615183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3758184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59936"/>
            <a:ext cx="3337559" cy="215798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學生如果回答「不是」，課堂會往哪裡走？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00" b="0">
                <a:solidFill>
                  <a:srgbClr val="6B736C"/>
                </a:solidFill>
                <a:latin typeface="Microsoft JhengHei"/>
                <a:ea typeface="Microsoft JhengHei"/>
              </a:rPr>
              <a:t>※ 學生原句辨識不完整，依教師轉述。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12 段　29:37–31:55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想幫忙加「體」的聲音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同伴之間的不同意見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900" b="1">
                <a:solidFill>
                  <a:srgbClr val="2C332D"/>
                </a:solidFill>
                <a:latin typeface="Microsoft JhengHei"/>
                <a:ea typeface="Microsoft JhengHei"/>
              </a:rPr>
              <a:t>有人一直想要幫他們加，對不對？</a:t>
            </a: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教師｜29:37–31:55｜逐字稿可信度：中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一組依序說出三角形、四邊形、五邊形、六邊形、圓形；台下有人一直想替他們加上「體」。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前一組的發現成了檢視這一組的標準——同伴的思考彼此牽動。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2203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轉問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「他們的五類跟前一組有一樣嗎？」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轉問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把台下的不同意見說出來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438144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未出現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要發表組自己說明「看的是哪裡」的深究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215384"/>
            <a:ext cx="3749039" cy="2048255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0" y="4325112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626864"/>
            <a:ext cx="3337559" cy="15910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他們說的也許是「底面」。想幫忙加「體」的聲音，會不會遮住了這組真正的依據？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00" b="0">
                <a:solidFill>
                  <a:srgbClr val="6B736C"/>
                </a:solidFill>
                <a:latin typeface="Microsoft JhengHei"/>
                <a:ea typeface="Microsoft JhengHei"/>
              </a:rPr>
              <a:t>※ 學生原句辨識不完整，依教師轉述與板書推定。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13 段　31:55–33:20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回到課本：兩個藍色的名詞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學生的分類對照教材的分類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900" b="1">
                <a:solidFill>
                  <a:srgbClr val="2C332D"/>
                </a:solidFill>
                <a:latin typeface="Microsoft JhengHei"/>
                <a:ea typeface="Microsoft JhengHei"/>
              </a:rPr>
              <a:t>有一些正確，有一些可能要調整一下。</a:t>
            </a: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教師｜31:55–33:20｜逐字稿可信度：高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教師請全班翻回 p.70：「七十頁出現兩個藍色的名詞」，問「什麼是柱體？什麼是錐體？」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課本定義在學生的多種分法並列之後才出現，成為對照點而不是一開始的答案。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1636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回到文本＋提示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指出 p.70 的藍色名詞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等待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「答案要在心裡」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648456"/>
            <a:ext cx="3749039" cy="2615183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3758184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59936"/>
            <a:ext cx="3337559" cy="215798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被認為要「調整」的那一組，他們的依據也被說出來、被理解了嗎？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14 段　33:20–36:31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「上面沒有尖尖的」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學生用生活語言下定義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900" b="1">
                <a:solidFill>
                  <a:srgbClr val="2C332D"/>
                </a:solidFill>
                <a:latin typeface="Microsoft JhengHei"/>
                <a:ea typeface="Microsoft JhengHei"/>
              </a:rPr>
              <a:t>柱體上面沒有尖尖的，錐體上面有尖尖的。</a:t>
            </a: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全班歸納｜33:20–36:31｜逐字稿可信度：中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一位學生說「就是上面沒有尖尖的」；教師提醒「他在說話了」，追問「什麼東西上面沒有尖尖的？」再請各組練習說。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生活語言「尖尖的」與課本「頂端尖尖的像錐子」相近；組內練習讓每個人都用自己的嘴說出定義。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1636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深究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「什麼東西上面沒有尖尖的？」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轉問（全員複述）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「先組內練習說」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648456"/>
            <a:ext cx="3749039" cy="2615183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3758184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59936"/>
            <a:ext cx="3337559" cy="215798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說出來之後，學生能用這句話判斷一個新的形體嗎？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15 段　36:31–37:15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「尖尖的」→「頂點」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從生活語言跨向數學語言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900" b="1">
                <a:solidFill>
                  <a:srgbClr val="2C332D"/>
                </a:solidFill>
                <a:latin typeface="Microsoft JhengHei"/>
                <a:ea typeface="Microsoft JhengHei"/>
              </a:rPr>
              <a:t>我們可以改成：錐體的上面是一個頂點，可以嗎？</a:t>
            </a: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教師｜36:31–37:15｜逐字稿可信度：中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教師把「尖尖的」改成「頂點」，再問柱體上面是什麼，帶出「上下兩個面互相平行」。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本課概念最集中的時刻：5-1 的「平行」成為 5-2 定義柱體的工具，前後兩段在此串起。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1636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提示（含代答成分）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「頂點」由教師給出，學生附和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深究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「柱體上面是什麼？」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648456"/>
            <a:ext cx="3749039" cy="2615183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3758184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59936"/>
            <a:ext cx="3337559" cy="215798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前半節的「垂直」與後半節的「平行」被串起來了——學生自己意識到這個連結嗎？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00" b="0">
                <a:solidFill>
                  <a:srgbClr val="6B736C"/>
                </a:solidFill>
                <a:latin typeface="Microsoft JhengHei"/>
                <a:ea typeface="Microsoft JhengHei"/>
              </a:rPr>
              <a:t>※ 「互相平行」由誰說出，原音可信度為中。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7A9A6E"/>
                </a:solidFill>
                <a:latin typeface="Microsoft JhengHei"/>
                <a:ea typeface="Microsoft JhengHei"/>
              </a:rPr>
              <a:t>第 16 段　37:15–38:50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200" b="1">
                <a:solidFill>
                  <a:srgbClr val="23412D"/>
                </a:solidFill>
                <a:latin typeface="Microsoft JhengHei"/>
                <a:ea typeface="Microsoft JhengHei"/>
              </a:rPr>
              <a:t>用數學概念重新分類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6B736C"/>
                </a:solidFill>
                <a:latin typeface="Microsoft JhengHei"/>
                <a:ea typeface="Microsoft JhengHei"/>
              </a:rPr>
              <a:t>柱體裡又出現了不同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903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649224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「</a:t>
            </a:r>
            <a:r>
              <a:rPr lang="zh-TW" altLang="en-US" sz="1900" b="1">
                <a:solidFill>
                  <a:srgbClr val="2C332D"/>
                </a:solidFill>
                <a:latin typeface="Microsoft JhengHei"/>
                <a:ea typeface="Microsoft JhengHei"/>
              </a:rPr>
              <a:t>要用學過的數學概念去重新分類。</a:t>
            </a:r>
            <a:r>
              <a:rPr lang="zh-TW" altLang="en-US" sz="1900" b="1">
                <a:solidFill>
                  <a:srgbClr val="7A9A6E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050" b="0">
                <a:solidFill>
                  <a:srgbClr val="6B736C"/>
                </a:solidFill>
                <a:latin typeface="Microsoft JhengHei"/>
                <a:ea typeface="Microsoft JhengHei"/>
              </a:rPr>
              <a:t>— 教師｜37:15–38:50｜逐字稿可信度：中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2841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7A9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32841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329184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全班把所有柱體歸成一類，再發現「有的上下是圓形的」——出現了新的名詞。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37176"/>
            <a:ext cx="658368" cy="310896"/>
          </a:xfrm>
          <a:prstGeom prst="roundRect">
            <a:avLst>
              <a:gd name="adj" fmla="val 30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837176"/>
            <a:ext cx="658368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1">
                <a:solidFill>
                  <a:srgbClr val="FFFFFF"/>
                </a:solidFill>
                <a:latin typeface="Microsoft JhengHei"/>
                <a:ea typeface="Microsoft JhengHei"/>
              </a:rPr>
              <a:t>詮釋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4800600"/>
            <a:ext cx="6126480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30000"/>
              </a:lnSpc>
              <a:spcAft>
                <a:spcPts val="0"/>
              </a:spcAft>
            </a:pPr>
            <a:r>
              <a:rPr lang="zh-TW" altLang="en-US" sz="1750" b="0">
                <a:solidFill>
                  <a:srgbClr val="2C332D"/>
                </a:solidFill>
                <a:latin typeface="Microsoft JhengHei"/>
                <a:ea typeface="Microsoft JhengHei"/>
              </a:rPr>
              <a:t>分類一層一層推進：自訂標準 → 柱體／錐體 → 柱體內再分（角柱／圓柱，p.71）。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828800"/>
            <a:ext cx="3749039" cy="1636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383279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23412D"/>
                </a:solidFill>
                <a:latin typeface="Microsoft JhengHei"/>
                <a:ea typeface="Microsoft JhengHei"/>
              </a:rPr>
              <a:t>理答策略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04288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提示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指定新的分類標準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71216"/>
            <a:ext cx="3383279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0000"/>
              </a:lnSpc>
              <a:spcAft>
                <a:spcPts val="0"/>
              </a:spcAft>
            </a:pPr>
            <a:r>
              <a:rPr lang="zh-TW" altLang="en-US" sz="1400" b="1">
                <a:solidFill>
                  <a:srgbClr val="23412D"/>
                </a:solidFill>
                <a:latin typeface="Microsoft JhengHei"/>
                <a:ea typeface="Microsoft JhengHei"/>
              </a:rPr>
              <a:t>深究</a:t>
            </a:r>
            <a:r>
              <a:rPr lang="zh-TW" altLang="en-US" sz="1350" b="0">
                <a:solidFill>
                  <a:srgbClr val="2C332D"/>
                </a:solidFill>
                <a:latin typeface="Microsoft JhengHei"/>
                <a:ea typeface="Microsoft JhengHei"/>
              </a:rPr>
              <a:t>　「你們發現又有一點點不一樣」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3648456"/>
            <a:ext cx="3749039" cy="2615183"/>
          </a:xfrm>
          <a:prstGeom prst="roundRect">
            <a:avLst>
              <a:gd name="adj" fmla="val 6000"/>
            </a:avLst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3758184"/>
            <a:ext cx="3383279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300" b="1">
                <a:solidFill>
                  <a:srgbClr val="CFE0C6"/>
                </a:solidFill>
                <a:latin typeface="Microsoft JhengHei"/>
                <a:ea typeface="Microsoft JhengHei"/>
              </a:rPr>
              <a:t>反思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59936"/>
            <a:ext cx="3337559" cy="215798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5000"/>
              </a:lnSpc>
              <a:spcAft>
                <a:spcPts val="0"/>
              </a:spcAft>
            </a:pPr>
            <a:r>
              <a:rPr lang="zh-TW" altLang="en-US" sz="1600" b="0">
                <a:solidFill>
                  <a:srgbClr val="FFFFFF"/>
                </a:solidFill>
                <a:latin typeface="Microsoft JhengHei"/>
                <a:ea typeface="Microsoft JhengHei"/>
              </a:rPr>
              <a:t>提出第②、④種分法的學生，會不會發現「我剛才的想法原來在這裡」？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400" b="1">
                <a:solidFill>
                  <a:srgbClr val="23412D"/>
                </a:solidFill>
                <a:latin typeface="Microsoft JhengHei"/>
                <a:ea typeface="Microsoft JhengHei"/>
              </a:rPr>
              <a:t>理答六策略：這節課的分布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60350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040880" y="1463040"/>
            <a:ext cx="452628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0" y="1691640"/>
            <a:ext cx="4023360" cy="3657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1400"/>
              </a:spcAft>
            </a:pPr>
            <a:r>
              <a:rPr lang="zh-TW" altLang="en-US" sz="1200" b="0">
                <a:solidFill>
                  <a:srgbClr val="7A9A6E"/>
                </a:solidFill>
                <a:latin typeface="Microsoft JhengHei"/>
                <a:ea typeface="Microsoft JhengHei"/>
              </a:rPr>
              <a:t>●  </a:t>
            </a:r>
            <a:r>
              <a:rPr lang="zh-TW" altLang="en-US" sz="1600" b="0">
                <a:solidFill>
                  <a:srgbClr val="2C332D"/>
                </a:solidFill>
                <a:latin typeface="Microsoft JhengHei"/>
                <a:ea typeface="Microsoft JhengHei"/>
              </a:rPr>
              <a:t>轉問最多：同伴比對、看別組分類、比較黑板、組內複述</a:t>
            </a:r>
          </a:p>
          <a:p>
            <a:pPr algn="l" eaLnBrk="1" hangingPunct="1">
              <a:lnSpc>
                <a:spcPct val="120000"/>
              </a:lnSpc>
              <a:spcAft>
                <a:spcPts val="1400"/>
              </a:spcAft>
            </a:pPr>
            <a:r>
              <a:rPr lang="zh-TW" altLang="en-US" sz="1200" b="0">
                <a:solidFill>
                  <a:srgbClr val="7A9A6E"/>
                </a:solidFill>
                <a:latin typeface="Microsoft JhengHei"/>
                <a:ea typeface="Microsoft JhengHei"/>
              </a:rPr>
              <a:t>●  </a:t>
            </a:r>
            <a:r>
              <a:rPr lang="zh-TW" altLang="en-US" sz="1600" b="0">
                <a:solidFill>
                  <a:srgbClr val="2C332D"/>
                </a:solidFill>
                <a:latin typeface="Microsoft JhengHei"/>
                <a:ea typeface="Microsoft JhengHei"/>
              </a:rPr>
              <a:t>反問只在開場明確出現（第 1 節）</a:t>
            </a:r>
          </a:p>
          <a:p>
            <a:pPr algn="l" eaLnBrk="1" hangingPunct="1">
              <a:lnSpc>
                <a:spcPct val="120000"/>
              </a:lnSpc>
              <a:spcAft>
                <a:spcPts val="1400"/>
              </a:spcAft>
            </a:pPr>
            <a:r>
              <a:rPr lang="zh-TW" altLang="en-US" sz="1200" b="0">
                <a:solidFill>
                  <a:srgbClr val="7A9A6E"/>
                </a:solidFill>
                <a:latin typeface="Microsoft JhengHei"/>
                <a:ea typeface="Microsoft JhengHei"/>
              </a:rPr>
              <a:t>●  </a:t>
            </a:r>
            <a:r>
              <a:rPr lang="zh-TW" altLang="en-US" sz="1600" b="0">
                <a:solidFill>
                  <a:srgbClr val="2C332D"/>
                </a:solidFill>
                <a:latin typeface="Microsoft JhengHei"/>
                <a:ea typeface="Microsoft JhengHei"/>
              </a:rPr>
              <a:t>另觀察到：評價語 2 處（「很好」「很正確喔」）</a:t>
            </a:r>
          </a:p>
          <a:p>
            <a:pPr algn="l" eaLnBrk="1" hangingPunct="1">
              <a:lnSpc>
                <a:spcPct val="120000"/>
              </a:lnSpc>
              <a:spcAft>
                <a:spcPts val="1400"/>
              </a:spcAft>
            </a:pPr>
            <a:r>
              <a:rPr lang="zh-TW" altLang="en-US" sz="1200" b="0">
                <a:solidFill>
                  <a:srgbClr val="7A9A6E"/>
                </a:solidFill>
                <a:latin typeface="Microsoft JhengHei"/>
                <a:ea typeface="Microsoft JhengHei"/>
              </a:rPr>
              <a:t>●  </a:t>
            </a:r>
            <a:r>
              <a:rPr lang="zh-TW" altLang="en-US" sz="1600" b="0">
                <a:solidFill>
                  <a:srgbClr val="2C332D"/>
                </a:solidFill>
                <a:latin typeface="Microsoft JhengHei"/>
                <a:ea typeface="Microsoft JhengHei"/>
              </a:rPr>
              <a:t>接近代答 2 處（第 11、15 節），待對照現場紀錄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100" b="0">
                <a:solidFill>
                  <a:srgbClr val="6B736C"/>
                </a:solidFill>
                <a:latin typeface="Microsoft JhengHei"/>
                <a:ea typeface="Microsoft JhengHei"/>
              </a:rPr>
              <a:t>依可辨識的教師語句計數（各策略出現於幾個段落）；單機位錄音，學生討論時段的教師語句未全數納入。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3400" b="1">
                <a:solidFill>
                  <a:srgbClr val="23412D"/>
                </a:solidFill>
                <a:latin typeface="Microsoft JhengHei"/>
                <a:ea typeface="Microsoft JhengHei"/>
              </a:rPr>
              <a:t>帶進議課的三個問題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2400" b="1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600200"/>
            <a:ext cx="9418320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2C332D"/>
                </a:solidFill>
                <a:latin typeface="Microsoft JhengHei"/>
                <a:ea typeface="Microsoft JhengHei"/>
              </a:rPr>
              <a:t>四種分法中，哪一種的依據最少被說出來？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108813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3154680"/>
            <a:ext cx="731520" cy="731520"/>
          </a:xfrm>
          <a:prstGeom prst="ellipse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2400" b="1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17520"/>
            <a:ext cx="9418320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2C332D"/>
                </a:solidFill>
                <a:latin typeface="Microsoft JhengHei"/>
                <a:ea typeface="Microsoft JhengHei"/>
              </a:rPr>
              <a:t>「想幫他們加『體』」的那一刻，發表的那組學生真正想說的是什麼？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43400"/>
            <a:ext cx="108813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4572000"/>
            <a:ext cx="731520" cy="731520"/>
          </a:xfrm>
          <a:prstGeom prst="ellipse">
            <a:avLst/>
          </a:prstGeom>
          <a:solidFill>
            <a:srgbClr val="234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57200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2400" b="1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434840"/>
            <a:ext cx="9418320" cy="10058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2100" b="0">
                <a:solidFill>
                  <a:srgbClr val="2C332D"/>
                </a:solidFill>
                <a:latin typeface="Microsoft JhengHei"/>
                <a:ea typeface="Microsoft JhengHei"/>
              </a:rPr>
              <a:t>5-1 的「平行」與 5-2 的「柱體上下兩面」之間的連結，學生自己看見了嗎？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 eaLnBrk="1" hangingPunct="1">
              <a:lnSpc>
                <a:spcPct val="115000"/>
              </a:lnSpc>
              <a:spcAft>
                <a:spcPts val="0"/>
              </a:spcAft>
            </a:pPr>
            <a:r>
              <a:rPr lang="zh-TW" altLang="en-US" sz="1200" b="0">
                <a:solidFill>
                  <a:srgbClr val="6B736C"/>
                </a:solidFill>
                <a:latin typeface="Microsoft JhengHei"/>
                <a:ea typeface="Microsoft JhengHei"/>
              </a:rPr>
              <a:t>限制：單機位 360p，學生小組討論與各組發表原音大多無法辨識；第 10–12 段依教師轉述與板書推定。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5022</Words>
  <Application>Microsoft Office PowerPoint</Application>
  <PresentationFormat>寬螢幕</PresentationFormat>
  <Paragraphs>384</Paragraphs>
  <Slides>20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Microsoft JhengHei</vt:lpstr>
      <vt:lpstr>Aptos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yiping hsu</cp:lastModifiedBy>
  <cp:revision>1</cp:revision>
  <dcterms:created xsi:type="dcterms:W3CDTF">2013-01-27T09:14:16Z</dcterms:created>
  <dcterms:modified xsi:type="dcterms:W3CDTF">2026-10-16T06:17:14Z</dcterms:modified>
  <cp:category/>
</cp:coreProperties>
</file>